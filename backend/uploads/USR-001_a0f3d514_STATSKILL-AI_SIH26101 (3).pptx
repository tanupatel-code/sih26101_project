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ptos Bold" panose="020B0004020202020204" charset="0"/>
      <p:regular r:id="rId9"/>
    </p:embeddedFont>
    <p:embeddedFont>
      <p:font typeface="Arimo Bold" panose="020B0604020202020204" charset="0"/>
      <p:regular r:id="rId10"/>
    </p:embeddedFont>
    <p:embeddedFont>
      <p:font typeface="Garamond Bold" panose="02020804030307010803" pitchFamily="18" charset="0"/>
      <p:regular r:id="rId11"/>
      <p:bold r:id="rId12"/>
    </p:embeddedFont>
    <p:embeddedFont>
      <p:font typeface="Times New Roman Bold" panose="02020803070505020304" pitchFamily="18"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6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02AE98-AB87-4627-A350-A344B80E190B}" v="68" dt="2026-09-26T19:54:19.617"/>
    <p1510:client id="{F9DE8FC9-6D45-4E3C-920C-6B6E8970D2F9}" v="1" dt="2026-09-27T04:13:00.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86" autoAdjust="0"/>
    <p:restoredTop sz="94660"/>
  </p:normalViewPr>
  <p:slideViewPr>
    <p:cSldViewPr snapToGrid="0">
      <p:cViewPr varScale="1">
        <p:scale>
          <a:sx n="66" d="100"/>
          <a:sy n="66" d="100"/>
        </p:scale>
        <p:origin x="38" y="2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 Rajput" userId="f7cb949608796fda" providerId="LiveId" clId="{248B25AA-B1C2-4C3C-B8DD-F3C63BE379C0}"/>
    <pc:docChg chg="undo custSel modSld">
      <pc:chgData name="Shubham Rajput" userId="f7cb949608796fda" providerId="LiveId" clId="{248B25AA-B1C2-4C3C-B8DD-F3C63BE379C0}" dt="2026-09-27T04:13:00.254" v="290"/>
      <pc:docMkLst>
        <pc:docMk/>
      </pc:docMkLst>
      <pc:sldChg chg="addSp modSp mod">
        <pc:chgData name="Shubham Rajput" userId="f7cb949608796fda" providerId="LiveId" clId="{248B25AA-B1C2-4C3C-B8DD-F3C63BE379C0}" dt="2026-09-27T04:13:00.254" v="290"/>
        <pc:sldMkLst>
          <pc:docMk/>
          <pc:sldMk cId="0" sldId="256"/>
        </pc:sldMkLst>
        <pc:spChg chg="mod">
          <ac:chgData name="Shubham Rajput" userId="f7cb949608796fda" providerId="LiveId" clId="{248B25AA-B1C2-4C3C-B8DD-F3C63BE379C0}" dt="2026-09-27T03:46:19.933" v="289" actId="20577"/>
          <ac:spMkLst>
            <pc:docMk/>
            <pc:sldMk cId="0" sldId="256"/>
            <ac:spMk id="2" creationId="{00000000-0000-0000-0000-000000000000}"/>
          </ac:spMkLst>
        </pc:spChg>
        <pc:spChg chg="mod">
          <ac:chgData name="Shubham Rajput" userId="f7cb949608796fda" providerId="LiveId" clId="{248B25AA-B1C2-4C3C-B8DD-F3C63BE379C0}" dt="2026-09-27T03:46:09.949" v="288" actId="115"/>
          <ac:spMkLst>
            <pc:docMk/>
            <pc:sldMk cId="0" sldId="256"/>
            <ac:spMk id="9" creationId="{00000000-0000-0000-0000-000000000000}"/>
          </ac:spMkLst>
        </pc:spChg>
        <pc:inkChg chg="add">
          <ac:chgData name="Shubham Rajput" userId="f7cb949608796fda" providerId="LiveId" clId="{248B25AA-B1C2-4C3C-B8DD-F3C63BE379C0}" dt="2026-09-27T04:13:00.254" v="290"/>
          <ac:inkMkLst>
            <pc:docMk/>
            <pc:sldMk cId="0" sldId="256"/>
            <ac:inkMk id="14" creationId="{D92B9C30-4A00-0E28-601B-51A210B507A3}"/>
          </ac:inkMkLst>
        </pc:inkChg>
        <pc:inkChg chg="add">
          <ac:chgData name="Shubham Rajput" userId="f7cb949608796fda" providerId="LiveId" clId="{248B25AA-B1C2-4C3C-B8DD-F3C63BE379C0}" dt="2026-09-27T04:13:00.254" v="290"/>
          <ac:inkMkLst>
            <pc:docMk/>
            <pc:sldMk cId="0" sldId="256"/>
            <ac:inkMk id="15" creationId="{96EC331B-9B65-C35F-E91C-EC2B0F42B77A}"/>
          </ac:inkMkLst>
        </pc:inkChg>
      </pc:sldChg>
      <pc:sldChg chg="modSp mod">
        <pc:chgData name="Shubham Rajput" userId="f7cb949608796fda" providerId="LiveId" clId="{248B25AA-B1C2-4C3C-B8DD-F3C63BE379C0}" dt="2026-09-27T03:27:26.640" v="49" actId="14100"/>
        <pc:sldMkLst>
          <pc:docMk/>
          <pc:sldMk cId="0" sldId="257"/>
        </pc:sldMkLst>
        <pc:spChg chg="mod">
          <ac:chgData name="Shubham Rajput" userId="f7cb949608796fda" providerId="LiveId" clId="{248B25AA-B1C2-4C3C-B8DD-F3C63BE379C0}" dt="2026-09-27T03:26:14.538" v="41" actId="20577"/>
          <ac:spMkLst>
            <pc:docMk/>
            <pc:sldMk cId="0" sldId="257"/>
            <ac:spMk id="49" creationId="{43E96A15-DD65-687F-3D73-EB6C8E54A13E}"/>
          </ac:spMkLst>
        </pc:spChg>
        <pc:grpChg chg="mod">
          <ac:chgData name="Shubham Rajput" userId="f7cb949608796fda" providerId="LiveId" clId="{248B25AA-B1C2-4C3C-B8DD-F3C63BE379C0}" dt="2026-09-27T03:26:40.171" v="43" actId="1076"/>
          <ac:grpSpMkLst>
            <pc:docMk/>
            <pc:sldMk cId="0" sldId="257"/>
            <ac:grpSpMk id="55" creationId="{5B01A1CD-F909-18FF-C195-39CDE37AAAEE}"/>
          </ac:grpSpMkLst>
        </pc:grpChg>
        <pc:picChg chg="mod">
          <ac:chgData name="Shubham Rajput" userId="f7cb949608796fda" providerId="LiveId" clId="{248B25AA-B1C2-4C3C-B8DD-F3C63BE379C0}" dt="2026-09-27T03:27:26.640" v="49" actId="14100"/>
          <ac:picMkLst>
            <pc:docMk/>
            <pc:sldMk cId="0" sldId="257"/>
            <ac:picMk id="21" creationId="{FCA7D2A0-390F-9B41-B84A-CAFA1F5D8BB5}"/>
          </ac:picMkLst>
        </pc:picChg>
        <pc:picChg chg="mod">
          <ac:chgData name="Shubham Rajput" userId="f7cb949608796fda" providerId="LiveId" clId="{248B25AA-B1C2-4C3C-B8DD-F3C63BE379C0}" dt="2026-09-27T03:27:06.280" v="45" actId="14100"/>
          <ac:picMkLst>
            <pc:docMk/>
            <pc:sldMk cId="0" sldId="257"/>
            <ac:picMk id="23" creationId="{3F8F042B-3EB5-401A-8314-41357F99349A}"/>
          </ac:picMkLst>
        </pc:picChg>
      </pc:sldChg>
      <pc:sldChg chg="modSp mod">
        <pc:chgData name="Shubham Rajput" userId="f7cb949608796fda" providerId="LiveId" clId="{248B25AA-B1C2-4C3C-B8DD-F3C63BE379C0}" dt="2026-09-27T03:33:32.570" v="126" actId="114"/>
        <pc:sldMkLst>
          <pc:docMk/>
          <pc:sldMk cId="0" sldId="258"/>
        </pc:sldMkLst>
        <pc:spChg chg="mod">
          <ac:chgData name="Shubham Rajput" userId="f7cb949608796fda" providerId="LiveId" clId="{248B25AA-B1C2-4C3C-B8DD-F3C63BE379C0}" dt="2026-09-27T03:33:32.570" v="126" actId="114"/>
          <ac:spMkLst>
            <pc:docMk/>
            <pc:sldMk cId="0" sldId="258"/>
            <ac:spMk id="63" creationId="{00000000-0000-0000-0000-000000000000}"/>
          </ac:spMkLst>
        </pc:spChg>
        <pc:spChg chg="mod">
          <ac:chgData name="Shubham Rajput" userId="f7cb949608796fda" providerId="LiveId" clId="{248B25AA-B1C2-4C3C-B8DD-F3C63BE379C0}" dt="2026-09-27T03:33:32.180" v="125" actId="114"/>
          <ac:spMkLst>
            <pc:docMk/>
            <pc:sldMk cId="0" sldId="258"/>
            <ac:spMk id="65" creationId="{00000000-0000-0000-0000-000000000000}"/>
          </ac:spMkLst>
        </pc:spChg>
        <pc:spChg chg="mod">
          <ac:chgData name="Shubham Rajput" userId="f7cb949608796fda" providerId="LiveId" clId="{248B25AA-B1C2-4C3C-B8DD-F3C63BE379C0}" dt="2026-09-27T03:33:31.804" v="124" actId="114"/>
          <ac:spMkLst>
            <pc:docMk/>
            <pc:sldMk cId="0" sldId="258"/>
            <ac:spMk id="67" creationId="{00000000-0000-0000-0000-000000000000}"/>
          </ac:spMkLst>
        </pc:spChg>
      </pc:sldChg>
      <pc:sldChg chg="modSp mod">
        <pc:chgData name="Shubham Rajput" userId="f7cb949608796fda" providerId="LiveId" clId="{248B25AA-B1C2-4C3C-B8DD-F3C63BE379C0}" dt="2026-09-27T03:29:09.483" v="63" actId="1036"/>
        <pc:sldMkLst>
          <pc:docMk/>
          <pc:sldMk cId="0" sldId="259"/>
        </pc:sldMkLst>
        <pc:spChg chg="mod">
          <ac:chgData name="Shubham Rajput" userId="f7cb949608796fda" providerId="LiveId" clId="{248B25AA-B1C2-4C3C-B8DD-F3C63BE379C0}" dt="2026-09-27T03:28:17.514" v="53" actId="20577"/>
          <ac:spMkLst>
            <pc:docMk/>
            <pc:sldMk cId="0" sldId="259"/>
            <ac:spMk id="30" creationId="{9C79658A-6EA3-B6E3-5328-8A8A70334CEF}"/>
          </ac:spMkLst>
        </pc:spChg>
        <pc:spChg chg="mod">
          <ac:chgData name="Shubham Rajput" userId="f7cb949608796fda" providerId="LiveId" clId="{248B25AA-B1C2-4C3C-B8DD-F3C63BE379C0}" dt="2026-09-27T03:28:15.496" v="51" actId="20577"/>
          <ac:spMkLst>
            <pc:docMk/>
            <pc:sldMk cId="0" sldId="259"/>
            <ac:spMk id="34" creationId="{05D5FB47-BFA2-FDE1-BD3C-B4EE5D2C7607}"/>
          </ac:spMkLst>
        </pc:spChg>
        <pc:spChg chg="mod">
          <ac:chgData name="Shubham Rajput" userId="f7cb949608796fda" providerId="LiveId" clId="{248B25AA-B1C2-4C3C-B8DD-F3C63BE379C0}" dt="2026-09-27T03:28:20.737" v="56" actId="20577"/>
          <ac:spMkLst>
            <pc:docMk/>
            <pc:sldMk cId="0" sldId="259"/>
            <ac:spMk id="38" creationId="{D98439FD-F8D6-862C-97AB-F92FDF4B1FF8}"/>
          </ac:spMkLst>
        </pc:spChg>
        <pc:spChg chg="mod">
          <ac:chgData name="Shubham Rajput" userId="f7cb949608796fda" providerId="LiveId" clId="{248B25AA-B1C2-4C3C-B8DD-F3C63BE379C0}" dt="2026-09-27T03:28:23.532" v="60" actId="20577"/>
          <ac:spMkLst>
            <pc:docMk/>
            <pc:sldMk cId="0" sldId="259"/>
            <ac:spMk id="40" creationId="{6E32A200-95AE-0C22-B86F-53B9DE9A0CF9}"/>
          </ac:spMkLst>
        </pc:spChg>
        <pc:grpChg chg="mod">
          <ac:chgData name="Shubham Rajput" userId="f7cb949608796fda" providerId="LiveId" clId="{248B25AA-B1C2-4C3C-B8DD-F3C63BE379C0}" dt="2026-09-27T03:28:54.430" v="61" actId="14100"/>
          <ac:grpSpMkLst>
            <pc:docMk/>
            <pc:sldMk cId="0" sldId="259"/>
            <ac:grpSpMk id="2" creationId="{00000000-0000-0000-0000-000000000000}"/>
          </ac:grpSpMkLst>
        </pc:grpChg>
        <pc:cxnChg chg="mod">
          <ac:chgData name="Shubham Rajput" userId="f7cb949608796fda" providerId="LiveId" clId="{248B25AA-B1C2-4C3C-B8DD-F3C63BE379C0}" dt="2026-09-27T03:29:09.483" v="63" actId="1036"/>
          <ac:cxnSpMkLst>
            <pc:docMk/>
            <pc:sldMk cId="0" sldId="259"/>
            <ac:cxnSpMk id="42" creationId="{F31DC94D-D3E4-319D-5DF8-70199E93FD59}"/>
          </ac:cxnSpMkLst>
        </pc:cxnChg>
      </pc:sldChg>
      <pc:sldChg chg="modSp mod">
        <pc:chgData name="Shubham Rajput" userId="f7cb949608796fda" providerId="LiveId" clId="{248B25AA-B1C2-4C3C-B8DD-F3C63BE379C0}" dt="2026-09-27T03:34:29.786" v="133" actId="14100"/>
        <pc:sldMkLst>
          <pc:docMk/>
          <pc:sldMk cId="0" sldId="260"/>
        </pc:sldMkLst>
        <pc:spChg chg="mod">
          <ac:chgData name="Shubham Rajput" userId="f7cb949608796fda" providerId="LiveId" clId="{248B25AA-B1C2-4C3C-B8DD-F3C63BE379C0}" dt="2026-09-27T03:34:20.336" v="132" actId="1076"/>
          <ac:spMkLst>
            <pc:docMk/>
            <pc:sldMk cId="0" sldId="260"/>
            <ac:spMk id="38" creationId="{00000000-0000-0000-0000-000000000000}"/>
          </ac:spMkLst>
        </pc:spChg>
        <pc:spChg chg="mod">
          <ac:chgData name="Shubham Rajput" userId="f7cb949608796fda" providerId="LiveId" clId="{248B25AA-B1C2-4C3C-B8DD-F3C63BE379C0}" dt="2026-09-27T03:34:29.786" v="133" actId="14100"/>
          <ac:spMkLst>
            <pc:docMk/>
            <pc:sldMk cId="0" sldId="260"/>
            <ac:spMk id="64" creationId="{15AE9841-9492-A30C-36D6-926FDF1C292F}"/>
          </ac:spMkLst>
        </pc:spChg>
        <pc:spChg chg="mod">
          <ac:chgData name="Shubham Rajput" userId="f7cb949608796fda" providerId="LiveId" clId="{248B25AA-B1C2-4C3C-B8DD-F3C63BE379C0}" dt="2026-09-27T03:33:32.957" v="127" actId="114"/>
          <ac:spMkLst>
            <pc:docMk/>
            <pc:sldMk cId="0" sldId="260"/>
            <ac:spMk id="66" creationId="{ED94F2AB-892B-80CA-54B0-1176ED1E6F43}"/>
          </ac:spMkLst>
        </pc:spChg>
        <pc:spChg chg="mod">
          <ac:chgData name="Shubham Rajput" userId="f7cb949608796fda" providerId="LiveId" clId="{248B25AA-B1C2-4C3C-B8DD-F3C63BE379C0}" dt="2026-09-27T03:31:30.597" v="98" actId="1076"/>
          <ac:spMkLst>
            <pc:docMk/>
            <pc:sldMk cId="0" sldId="260"/>
            <ac:spMk id="67" creationId="{615C5DE8-4991-5F42-746D-10E7013B75AC}"/>
          </ac:spMkLst>
        </pc:spChg>
        <pc:spChg chg="mod">
          <ac:chgData name="Shubham Rajput" userId="f7cb949608796fda" providerId="LiveId" clId="{248B25AA-B1C2-4C3C-B8DD-F3C63BE379C0}" dt="2026-09-27T03:34:01.758" v="130" actId="14100"/>
          <ac:spMkLst>
            <pc:docMk/>
            <pc:sldMk cId="0" sldId="260"/>
            <ac:spMk id="69" creationId="{7B3D635D-6CE3-A44E-4B27-22D96E1AE197}"/>
          </ac:spMkLst>
        </pc:spChg>
        <pc:spChg chg="mod">
          <ac:chgData name="Shubham Rajput" userId="f7cb949608796fda" providerId="LiveId" clId="{248B25AA-B1C2-4C3C-B8DD-F3C63BE379C0}" dt="2026-09-27T03:31:38.022" v="99" actId="1076"/>
          <ac:spMkLst>
            <pc:docMk/>
            <pc:sldMk cId="0" sldId="260"/>
            <ac:spMk id="71" creationId="{E981E771-23A0-86CD-9269-5BBD7345EE61}"/>
          </ac:spMkLst>
        </pc:spChg>
        <pc:spChg chg="mod">
          <ac:chgData name="Shubham Rajput" userId="f7cb949608796fda" providerId="LiveId" clId="{248B25AA-B1C2-4C3C-B8DD-F3C63BE379C0}" dt="2026-09-27T03:33:52.533" v="129" actId="14100"/>
          <ac:spMkLst>
            <pc:docMk/>
            <pc:sldMk cId="0" sldId="260"/>
            <ac:spMk id="73" creationId="{A384E892-8BB7-6FE6-64B3-19F22231F4D1}"/>
          </ac:spMkLst>
        </pc:spChg>
        <pc:spChg chg="mod">
          <ac:chgData name="Shubham Rajput" userId="f7cb949608796fda" providerId="LiveId" clId="{248B25AA-B1C2-4C3C-B8DD-F3C63BE379C0}" dt="2026-09-27T03:31:43.672" v="100" actId="1076"/>
          <ac:spMkLst>
            <pc:docMk/>
            <pc:sldMk cId="0" sldId="260"/>
            <ac:spMk id="75" creationId="{40D8142D-1809-6F4C-A299-46782BE6FECA}"/>
          </ac:spMkLst>
        </pc:spChg>
        <pc:spChg chg="mod">
          <ac:chgData name="Shubham Rajput" userId="f7cb949608796fda" providerId="LiveId" clId="{248B25AA-B1C2-4C3C-B8DD-F3C63BE379C0}" dt="2026-09-27T03:29:32.536" v="77" actId="1036"/>
          <ac:spMkLst>
            <pc:docMk/>
            <pc:sldMk cId="0" sldId="260"/>
            <ac:spMk id="77" creationId="{A35EEBCA-E332-4AC6-F7AA-893FAA66D276}"/>
          </ac:spMkLst>
        </pc:sp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8.35866" units="1/cm"/>
          <inkml:channelProperty channel="Y" name="resolution" value="58.53659" units="1/cm"/>
          <inkml:channelProperty channel="T" name="resolution" value="1" units="1/dev"/>
        </inkml:channelProperties>
      </inkml:inkSource>
      <inkml:timestamp xml:id="ts0" timeString="2026-09-27T04:09:48.94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45950 24118 0,'0'0'3,"0"43"81,0 45-55,-131 261 2,-87 1 3,131-263-32,-1 1 26,45-1-26,-45 0 9,1-43-9,-44 218 30,87-262-30,-131 219 45,132-132-16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8.35866" units="1/cm"/>
          <inkml:channelProperty channel="Y" name="resolution" value="58.53659" units="1/cm"/>
          <inkml:channelProperty channel="T" name="resolution" value="1" units="1/dev"/>
        </inkml:channelProperties>
      </inkml:inkSource>
      <inkml:timestamp xml:id="ts0" timeString="2026-09-27T04:10:08.5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45601 26259 0,'0'-44'136,"-87"-43"-107,-88 43-27,-131 0 0,44 0 27,-306-43-27,263-44 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hyperlink" Target="https://www.igotkarmayogi.gov.in/#/" TargetMode="External"/><Relationship Id="rId3" Type="http://schemas.openxmlformats.org/officeDocument/2006/relationships/image" Target="../media/image3.jpeg"/><Relationship Id="rId7" Type="http://schemas.openxmlformats.org/officeDocument/2006/relationships/hyperlink" Target="https://github.com/AdityaKymarSharmaAKS/SIH26101_Projec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www.sih.gov.in/" TargetMode="External"/><Relationship Id="rId5"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s://drive.google.com/drive/folders/128iOZGU00XuSwwTPiGgWKtvQjz0EbZJ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74042" y="1277274"/>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r>
              <a:rPr lang="en-IN"/>
              <a:t> </a:t>
            </a:r>
          </a:p>
        </p:txBody>
      </p:sp>
      <p:grpSp>
        <p:nvGrpSpPr>
          <p:cNvPr id="3" name="Group 3"/>
          <p:cNvGrpSpPr/>
          <p:nvPr/>
        </p:nvGrpSpPr>
        <p:grpSpPr>
          <a:xfrm>
            <a:off x="12267495" y="3058604"/>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txBody>
            <a:bodyPr/>
            <a:lstStyle/>
            <a:p>
              <a:endParaRPr lang="en-IN"/>
            </a:p>
          </p:txBody>
        </p:sp>
      </p:grpSp>
      <p:sp>
        <p:nvSpPr>
          <p:cNvPr id="5" name="TextBox 5"/>
          <p:cNvSpPr txBox="1"/>
          <p:nvPr/>
        </p:nvSpPr>
        <p:spPr>
          <a:xfrm>
            <a:off x="1959969" y="990067"/>
            <a:ext cx="12618720" cy="1445909"/>
          </a:xfrm>
          <a:prstGeom prst="rect">
            <a:avLst/>
          </a:prstGeom>
        </p:spPr>
        <p:txBody>
          <a:bodyPr lIns="0" tIns="0" rIns="0" bIns="0" rtlCol="0" anchor="t">
            <a:spAutoFit/>
          </a:bodyPr>
          <a:lstStyle/>
          <a:p>
            <a:pPr algn="ctr">
              <a:lnSpc>
                <a:spcPts val="5759"/>
              </a:lnSpc>
            </a:pPr>
            <a:endParaRPr dirty="0"/>
          </a:p>
          <a:p>
            <a:pPr algn="ctr">
              <a:lnSpc>
                <a:spcPts val="5759"/>
              </a:lnSpc>
            </a:pPr>
            <a:r>
              <a:rPr lang="en-US" sz="4800" b="1" dirty="0">
                <a:solidFill>
                  <a:srgbClr val="000000"/>
                </a:solidFill>
                <a:latin typeface="Times New Roman Bold"/>
                <a:ea typeface="Times New Roman Bold"/>
                <a:cs typeface="Times New Roman Bold"/>
                <a:sym typeface="Times New Roman Bold"/>
              </a:rPr>
              <a:t>TITLE PAGE</a:t>
            </a:r>
          </a:p>
        </p:txBody>
      </p:sp>
      <p:grpSp>
        <p:nvGrpSpPr>
          <p:cNvPr id="6" name="Group 6"/>
          <p:cNvGrpSpPr/>
          <p:nvPr/>
        </p:nvGrpSpPr>
        <p:grpSpPr>
          <a:xfrm>
            <a:off x="-280311" y="-420579"/>
            <a:ext cx="17099280" cy="2133600"/>
            <a:chOff x="-1036320" y="-19050"/>
            <a:chExt cx="22799039" cy="4660583"/>
          </a:xfrm>
        </p:grpSpPr>
        <p:sp>
          <p:nvSpPr>
            <p:cNvPr id="7" name="Freeform 7"/>
            <p:cNvSpPr/>
            <p:nvPr/>
          </p:nvSpPr>
          <p:spPr>
            <a:xfrm>
              <a:off x="-1036320" y="488634"/>
              <a:ext cx="22799039" cy="4152899"/>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txBody>
            <a:bodyPr/>
            <a:lstStyle/>
            <a:p>
              <a:endParaRPr lang="en-IN"/>
            </a:p>
          </p:txBody>
        </p:sp>
        <p:sp>
          <p:nvSpPr>
            <p:cNvPr id="8" name="TextBox 8"/>
            <p:cNvSpPr txBox="1"/>
            <p:nvPr/>
          </p:nvSpPr>
          <p:spPr>
            <a:xfrm>
              <a:off x="0" y="-19050"/>
              <a:ext cx="20726400" cy="4171950"/>
            </a:xfrm>
            <a:prstGeom prst="rect">
              <a:avLst/>
            </a:prstGeom>
          </p:spPr>
          <p:txBody>
            <a:bodyPr lIns="0" tIns="0" rIns="0" bIns="0" rtlCol="0" anchor="ctr"/>
            <a:lstStyle/>
            <a:p>
              <a:pPr algn="ctr">
                <a:lnSpc>
                  <a:spcPts val="7200"/>
                </a:lnSpc>
              </a:pPr>
              <a:r>
                <a:rPr lang="en-US" sz="6000" b="1" dirty="0">
                  <a:solidFill>
                    <a:srgbClr val="1F497D"/>
                  </a:solidFill>
                  <a:latin typeface="Garamond Bold"/>
                  <a:ea typeface="Garamond Bold"/>
                  <a:cs typeface="Garamond Bold"/>
                  <a:sym typeface="Garamond Bold"/>
                </a:rPr>
                <a:t>SMART INDIA HACKATHON 2026</a:t>
              </a:r>
            </a:p>
          </p:txBody>
        </p:sp>
      </p:grpSp>
      <p:sp>
        <p:nvSpPr>
          <p:cNvPr id="9" name="TextBox 9"/>
          <p:cNvSpPr txBox="1"/>
          <p:nvPr/>
        </p:nvSpPr>
        <p:spPr>
          <a:xfrm>
            <a:off x="496929" y="3058604"/>
            <a:ext cx="10873839" cy="5954387"/>
          </a:xfrm>
          <a:prstGeom prst="rect">
            <a:avLst/>
          </a:prstGeom>
        </p:spPr>
        <p:txBody>
          <a:bodyPr wrap="square" lIns="0" tIns="0" rIns="0" bIns="0" rtlCol="0" anchor="t">
            <a:spAutoFit/>
          </a:bodyPr>
          <a:lstStyle/>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Problem</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Statement</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ID</a:t>
            </a:r>
            <a:r>
              <a:rPr lang="en-US" sz="2550" b="1" dirty="0">
                <a:solidFill>
                  <a:srgbClr val="232D37"/>
                </a:solidFill>
                <a:latin typeface="Aptos"/>
                <a:ea typeface="Aptos"/>
                <a:cs typeface="Aptos"/>
                <a:sym typeface="Aptos"/>
              </a:rPr>
              <a:t> </a:t>
            </a:r>
            <a:r>
              <a:rPr lang="en-US" sz="2550" dirty="0">
                <a:solidFill>
                  <a:srgbClr val="232D37"/>
                </a:solidFill>
                <a:latin typeface="Aptos"/>
                <a:ea typeface="Aptos"/>
                <a:cs typeface="Aptos"/>
                <a:sym typeface="Aptos"/>
              </a:rPr>
              <a:t>: 26101</a:t>
            </a:r>
          </a:p>
          <a:p>
            <a:pPr algn="l">
              <a:lnSpc>
                <a:spcPts val="3060"/>
              </a:lnSpc>
            </a:pPr>
            <a:endParaRPr lang="en-US" sz="2550" dirty="0">
              <a:solidFill>
                <a:srgbClr val="232D37"/>
              </a:solidFill>
              <a:latin typeface="Aptos"/>
              <a:ea typeface="Aptos"/>
              <a:cs typeface="Aptos"/>
              <a:sym typeface="Aptos"/>
            </a:endParaRPr>
          </a:p>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Problem</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Statement</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Title</a:t>
            </a:r>
            <a:r>
              <a:rPr lang="en-US" sz="2550" dirty="0">
                <a:solidFill>
                  <a:srgbClr val="232D37"/>
                </a:solidFill>
                <a:latin typeface="Aptos"/>
                <a:ea typeface="Aptos"/>
                <a:cs typeface="Aptos"/>
                <a:sym typeface="Aptos"/>
              </a:rPr>
              <a:t> : </a:t>
            </a:r>
            <a:r>
              <a:rPr lang="en-US" sz="2550" i="1" dirty="0">
                <a:solidFill>
                  <a:srgbClr val="232D37"/>
                </a:solidFill>
                <a:latin typeface="Aptos"/>
                <a:ea typeface="Aptos"/>
                <a:cs typeface="Aptos"/>
                <a:sym typeface="Aptos"/>
              </a:rPr>
              <a:t>Develop an AI enabled learning platform that identifies competency gaps, recommends personalized training through integration with the iGOT Karmayogi ecosystem, and capable of generating Quizzes and Multiple choice questions (MCQs) from uploaded learning materials to strengthen capacity building in India's Official Statistical System.</a:t>
            </a:r>
          </a:p>
          <a:p>
            <a:pPr algn="l">
              <a:lnSpc>
                <a:spcPts val="3060"/>
              </a:lnSpc>
            </a:pPr>
            <a:endParaRPr lang="en-US" sz="2550" dirty="0">
              <a:solidFill>
                <a:srgbClr val="232D37"/>
              </a:solidFill>
              <a:latin typeface="Aptos"/>
              <a:ea typeface="Aptos"/>
              <a:cs typeface="Aptos"/>
              <a:sym typeface="Aptos"/>
            </a:endParaRPr>
          </a:p>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Theme</a:t>
            </a:r>
            <a:r>
              <a:rPr lang="en-US" sz="2550" b="1" dirty="0">
                <a:solidFill>
                  <a:srgbClr val="232D37"/>
                </a:solidFill>
                <a:latin typeface="Aptos"/>
                <a:ea typeface="Aptos"/>
                <a:cs typeface="Aptos"/>
                <a:sym typeface="Aptos"/>
              </a:rPr>
              <a:t> </a:t>
            </a:r>
            <a:r>
              <a:rPr lang="en-US" sz="2550" dirty="0">
                <a:solidFill>
                  <a:srgbClr val="232D37"/>
                </a:solidFill>
                <a:latin typeface="Aptos"/>
                <a:ea typeface="Aptos"/>
                <a:cs typeface="Aptos"/>
                <a:sym typeface="Aptos"/>
              </a:rPr>
              <a:t>: Smart Education</a:t>
            </a:r>
          </a:p>
          <a:p>
            <a:pPr algn="l">
              <a:lnSpc>
                <a:spcPts val="3060"/>
              </a:lnSpc>
            </a:pPr>
            <a:endParaRPr lang="en-US" sz="2550" dirty="0">
              <a:solidFill>
                <a:srgbClr val="232D37"/>
              </a:solidFill>
              <a:latin typeface="Aptos"/>
              <a:ea typeface="Aptos"/>
              <a:cs typeface="Aptos"/>
              <a:sym typeface="Aptos"/>
            </a:endParaRPr>
          </a:p>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PS</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Category</a:t>
            </a:r>
            <a:r>
              <a:rPr lang="en-US" sz="2550" b="1" dirty="0">
                <a:solidFill>
                  <a:srgbClr val="232D37"/>
                </a:solidFill>
                <a:latin typeface="Aptos"/>
                <a:ea typeface="Aptos"/>
                <a:cs typeface="Aptos"/>
                <a:sym typeface="Aptos"/>
              </a:rPr>
              <a:t> </a:t>
            </a:r>
            <a:r>
              <a:rPr lang="en-US" sz="2550" dirty="0">
                <a:solidFill>
                  <a:srgbClr val="232D37"/>
                </a:solidFill>
                <a:latin typeface="Aptos"/>
                <a:ea typeface="Aptos"/>
                <a:cs typeface="Aptos"/>
                <a:sym typeface="Aptos"/>
              </a:rPr>
              <a:t>: Software</a:t>
            </a:r>
          </a:p>
          <a:p>
            <a:pPr algn="l">
              <a:lnSpc>
                <a:spcPts val="3060"/>
              </a:lnSpc>
            </a:pPr>
            <a:endParaRPr lang="en-US" sz="2550" dirty="0">
              <a:solidFill>
                <a:srgbClr val="232D37"/>
              </a:solidFill>
              <a:latin typeface="Aptos"/>
              <a:ea typeface="Aptos"/>
              <a:cs typeface="Aptos"/>
              <a:sym typeface="Aptos"/>
            </a:endParaRPr>
          </a:p>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Team</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ID</a:t>
            </a:r>
            <a:r>
              <a:rPr lang="en-US" sz="2550" dirty="0">
                <a:solidFill>
                  <a:srgbClr val="232D37"/>
                </a:solidFill>
                <a:latin typeface="Aptos"/>
                <a:ea typeface="Aptos"/>
                <a:cs typeface="Aptos"/>
                <a:sym typeface="Aptos"/>
              </a:rPr>
              <a:t> : 163519</a:t>
            </a:r>
          </a:p>
          <a:p>
            <a:pPr algn="l">
              <a:lnSpc>
                <a:spcPts val="3060"/>
              </a:lnSpc>
            </a:pPr>
            <a:endParaRPr lang="en-US" sz="2550" dirty="0">
              <a:solidFill>
                <a:srgbClr val="232D37"/>
              </a:solidFill>
              <a:latin typeface="Aptos"/>
              <a:ea typeface="Aptos"/>
              <a:cs typeface="Aptos"/>
              <a:sym typeface="Aptos"/>
            </a:endParaRPr>
          </a:p>
          <a:p>
            <a:pPr algn="l">
              <a:lnSpc>
                <a:spcPts val="3060"/>
              </a:lnSpc>
            </a:pP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Team</a:t>
            </a:r>
            <a:r>
              <a:rPr lang="en-US" sz="2550" b="1" dirty="0">
                <a:solidFill>
                  <a:srgbClr val="232D37"/>
                </a:solidFill>
                <a:latin typeface="Aptos"/>
                <a:ea typeface="Aptos"/>
                <a:cs typeface="Aptos"/>
                <a:sym typeface="Aptos"/>
              </a:rPr>
              <a:t> </a:t>
            </a:r>
            <a:r>
              <a:rPr lang="en-US" sz="2550" b="1" u="sng" dirty="0">
                <a:solidFill>
                  <a:srgbClr val="232D37"/>
                </a:solidFill>
                <a:latin typeface="Aptos"/>
                <a:ea typeface="Aptos"/>
                <a:cs typeface="Aptos"/>
                <a:sym typeface="Aptos"/>
              </a:rPr>
              <a:t>Name</a:t>
            </a:r>
            <a:r>
              <a:rPr lang="en-US" sz="2550" b="1" dirty="0">
                <a:solidFill>
                  <a:srgbClr val="232D37"/>
                </a:solidFill>
                <a:latin typeface="Aptos"/>
                <a:ea typeface="Aptos"/>
                <a:cs typeface="Aptos"/>
                <a:sym typeface="Aptos"/>
              </a:rPr>
              <a:t> </a:t>
            </a:r>
            <a:r>
              <a:rPr lang="en-US" sz="2550" dirty="0">
                <a:solidFill>
                  <a:srgbClr val="232D37"/>
                </a:solidFill>
                <a:latin typeface="Aptos"/>
                <a:ea typeface="Aptos"/>
                <a:cs typeface="Aptos"/>
                <a:sym typeface="Aptos"/>
              </a:rPr>
              <a:t>: F-TECH</a:t>
            </a:r>
          </a:p>
        </p:txBody>
      </p:sp>
      <p:grpSp>
        <p:nvGrpSpPr>
          <p:cNvPr id="10" name="Group 10"/>
          <p:cNvGrpSpPr/>
          <p:nvPr/>
        </p:nvGrpSpPr>
        <p:grpSpPr>
          <a:xfrm>
            <a:off x="14670129" y="2248"/>
            <a:ext cx="3374774" cy="1593504"/>
            <a:chOff x="0" y="0"/>
            <a:chExt cx="4499699" cy="2124672"/>
          </a:xfrm>
        </p:grpSpPr>
        <p:sp>
          <p:nvSpPr>
            <p:cNvPr id="11" name="Freeform 11"/>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5"/>
              <a:stretch>
                <a:fillRect b="1"/>
              </a:stretch>
            </a:blipFill>
          </p:spPr>
          <p:txBody>
            <a:bodyPr/>
            <a:lstStyle/>
            <a:p>
              <a:endParaRPr lang="en-IN"/>
            </a:p>
          </p:txBody>
        </p:sp>
      </p:grpSp>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D92B9C30-4A00-0E28-601B-51A210B507A3}"/>
                  </a:ext>
                </a:extLst>
              </p14:cNvPr>
              <p14:cNvContentPartPr/>
              <p14:nvPr/>
            </p14:nvContentPartPr>
            <p14:xfrm>
              <a:off x="16133400" y="8682480"/>
              <a:ext cx="408960" cy="645120"/>
            </p14:xfrm>
          </p:contentPart>
        </mc:Choice>
        <mc:Fallback xmlns="">
          <p:pic>
            <p:nvPicPr>
              <p:cNvPr id="14" name="Ink 13">
                <a:extLst>
                  <a:ext uri="{FF2B5EF4-FFF2-40B4-BE49-F238E27FC236}">
                    <a16:creationId xmlns:a16="http://schemas.microsoft.com/office/drawing/2014/main" id="{D92B9C30-4A00-0E28-601B-51A210B507A3}"/>
                  </a:ext>
                </a:extLst>
              </p:cNvPr>
              <p:cNvPicPr/>
              <p:nvPr/>
            </p:nvPicPr>
            <p:blipFill>
              <a:blip r:embed="rId7"/>
              <a:stretch>
                <a:fillRect/>
              </a:stretch>
            </p:blipFill>
            <p:spPr>
              <a:xfrm>
                <a:off x="16117560" y="8619120"/>
                <a:ext cx="440280" cy="771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96EC331B-9B65-C35F-E91C-EC2B0F42B77A}"/>
                  </a:ext>
                </a:extLst>
              </p14:cNvPr>
              <p14:cNvContentPartPr/>
              <p14:nvPr/>
            </p14:nvContentPartPr>
            <p14:xfrm>
              <a:off x="15803280" y="9280080"/>
              <a:ext cx="613440" cy="173520"/>
            </p14:xfrm>
          </p:contentPart>
        </mc:Choice>
        <mc:Fallback xmlns="">
          <p:pic>
            <p:nvPicPr>
              <p:cNvPr id="15" name="Ink 14">
                <a:extLst>
                  <a:ext uri="{FF2B5EF4-FFF2-40B4-BE49-F238E27FC236}">
                    <a16:creationId xmlns:a16="http://schemas.microsoft.com/office/drawing/2014/main" id="{96EC331B-9B65-C35F-E91C-EC2B0F42B77A}"/>
                  </a:ext>
                </a:extLst>
              </p:cNvPr>
              <p:cNvPicPr/>
              <p:nvPr/>
            </p:nvPicPr>
            <p:blipFill>
              <a:blip r:embed="rId9"/>
              <a:stretch>
                <a:fillRect/>
              </a:stretch>
            </p:blipFill>
            <p:spPr>
              <a:xfrm>
                <a:off x="15787440" y="9216720"/>
                <a:ext cx="644760" cy="3002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28708"/>
            <a:ext cx="18288000" cy="621628"/>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384895" y="-952999"/>
            <a:ext cx="16534124" cy="1816107"/>
            <a:chOff x="-99899" y="-223422"/>
            <a:chExt cx="22045499" cy="2509422"/>
          </a:xfrm>
        </p:grpSpPr>
        <p:sp>
          <p:nvSpPr>
            <p:cNvPr id="5" name="Freeform 5"/>
            <p:cNvSpPr/>
            <p:nvPr/>
          </p:nvSpPr>
          <p:spPr>
            <a:xfrm>
              <a:off x="-99899" y="-223422"/>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lang="en-IN" dirty="0"/>
            </a:p>
          </p:txBody>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endParaRPr dirty="0"/>
            </a:p>
            <a:p>
              <a:pPr algn="ctr">
                <a:lnSpc>
                  <a:spcPts val="6480"/>
                </a:lnSpc>
              </a:pPr>
              <a:r>
                <a:rPr lang="en-US" sz="5400" b="1" dirty="0">
                  <a:solidFill>
                    <a:srgbClr val="000000"/>
                  </a:solidFill>
                  <a:latin typeface="Times New Roman Bold"/>
                  <a:ea typeface="Times New Roman Bold"/>
                  <a:cs typeface="Times New Roman Bold"/>
                  <a:sym typeface="Times New Roman Bold"/>
                </a:rPr>
                <a:t>IDEA TITLE</a:t>
              </a:r>
            </a:p>
          </p:txBody>
        </p:sp>
      </p:grpSp>
      <p:grpSp>
        <p:nvGrpSpPr>
          <p:cNvPr id="7" name="Group 7"/>
          <p:cNvGrpSpPr/>
          <p:nvPr/>
        </p:nvGrpSpPr>
        <p:grpSpPr>
          <a:xfrm>
            <a:off x="13326319" y="9665678"/>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lang="en-IN"/>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0" name="Group 10"/>
          <p:cNvGrpSpPr/>
          <p:nvPr/>
        </p:nvGrpSpPr>
        <p:grpSpPr>
          <a:xfrm>
            <a:off x="6972300" y="9658534"/>
            <a:ext cx="4731160" cy="547688"/>
            <a:chOff x="0" y="-9525"/>
            <a:chExt cx="6408001" cy="850111"/>
          </a:xfrm>
        </p:grpSpPr>
        <p:sp>
          <p:nvSpPr>
            <p:cNvPr id="11" name="Freeform 11"/>
            <p:cNvSpPr/>
            <p:nvPr/>
          </p:nvSpPr>
          <p:spPr>
            <a:xfrm>
              <a:off x="1" y="110336"/>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txBody>
            <a:bodyPr/>
            <a:lstStyle/>
            <a:p>
              <a:endParaRPr lang="en-IN"/>
            </a:p>
          </p:txBody>
        </p:sp>
        <p:sp>
          <p:nvSpPr>
            <p:cNvPr id="12" name="TextBox 12"/>
            <p:cNvSpPr txBox="1"/>
            <p:nvPr/>
          </p:nvSpPr>
          <p:spPr>
            <a:xfrm>
              <a:off x="0" y="-9525"/>
              <a:ext cx="6408001" cy="739775"/>
            </a:xfrm>
            <a:prstGeom prst="rect">
              <a:avLst/>
            </a:prstGeom>
          </p:spPr>
          <p:txBody>
            <a:bodyPr lIns="0" tIns="0" rIns="0" bIns="0" rtlCol="0" anchor="ctr"/>
            <a:lstStyle/>
            <a:p>
              <a:pPr algn="ctr">
                <a:lnSpc>
                  <a:spcPts val="1620"/>
                </a:lnSpc>
              </a:pPr>
              <a:r>
                <a:rPr lang="en-US" sz="1350" dirty="0">
                  <a:solidFill>
                    <a:srgbClr val="586570"/>
                  </a:solidFill>
                  <a:latin typeface="Aptos"/>
                  <a:ea typeface="Aptos"/>
                  <a:cs typeface="Aptos"/>
                  <a:sym typeface="Aptos"/>
                </a:rPr>
                <a:t>SMART INDIA HACKATHON 2026</a:t>
              </a:r>
            </a:p>
          </p:txBody>
        </p:sp>
      </p:grpSp>
      <p:grpSp>
        <p:nvGrpSpPr>
          <p:cNvPr id="13" name="Group 13"/>
          <p:cNvGrpSpPr/>
          <p:nvPr/>
        </p:nvGrpSpPr>
        <p:grpSpPr>
          <a:xfrm>
            <a:off x="14670129" y="2248"/>
            <a:ext cx="3374774" cy="1593504"/>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lang="en-IN"/>
            </a:p>
          </p:txBody>
        </p:sp>
      </p:grpSp>
      <p:grpSp>
        <p:nvGrpSpPr>
          <p:cNvPr id="15" name="Group 15"/>
          <p:cNvGrpSpPr/>
          <p:nvPr/>
        </p:nvGrpSpPr>
        <p:grpSpPr>
          <a:xfrm>
            <a:off x="243097" y="189405"/>
            <a:ext cx="1500559" cy="1453658"/>
            <a:chOff x="0" y="0"/>
            <a:chExt cx="2000745" cy="1938210"/>
          </a:xfrm>
        </p:grpSpPr>
        <p:sp>
          <p:nvSpPr>
            <p:cNvPr id="16" name="Freeform 16"/>
            <p:cNvSpPr/>
            <p:nvPr/>
          </p:nvSpPr>
          <p:spPr>
            <a:xfrm>
              <a:off x="0" y="0"/>
              <a:ext cx="2000758" cy="1938274"/>
            </a:xfrm>
            <a:custGeom>
              <a:avLst/>
              <a:gdLst/>
              <a:ahLst/>
              <a:cxnLst/>
              <a:rect l="l" t="t" r="r" b="b"/>
              <a:pathLst>
                <a:path w="2000758" h="1938274">
                  <a:moveTo>
                    <a:pt x="0" y="0"/>
                  </a:moveTo>
                  <a:lnTo>
                    <a:pt x="2000758" y="0"/>
                  </a:lnTo>
                  <a:lnTo>
                    <a:pt x="2000758" y="1938274"/>
                  </a:lnTo>
                  <a:lnTo>
                    <a:pt x="0" y="1938274"/>
                  </a:lnTo>
                  <a:lnTo>
                    <a:pt x="0" y="0"/>
                  </a:lnTo>
                  <a:close/>
                </a:path>
              </a:pathLst>
            </a:custGeom>
            <a:blipFill>
              <a:blip r:embed="rId5"/>
              <a:stretch>
                <a:fillRect t="-1613" b="-1609"/>
              </a:stretch>
            </a:blipFill>
          </p:spPr>
          <p:txBody>
            <a:bodyPr/>
            <a:lstStyle/>
            <a:p>
              <a:endParaRPr lang="en-IN"/>
            </a:p>
          </p:txBody>
        </p:sp>
      </p:grpSp>
      <p:grpSp>
        <p:nvGrpSpPr>
          <p:cNvPr id="17" name="Group 17"/>
          <p:cNvGrpSpPr/>
          <p:nvPr/>
        </p:nvGrpSpPr>
        <p:grpSpPr>
          <a:xfrm>
            <a:off x="4483367" y="689391"/>
            <a:ext cx="7937957" cy="1362463"/>
            <a:chOff x="1511220" y="243266"/>
            <a:chExt cx="8938886" cy="2723202"/>
          </a:xfrm>
        </p:grpSpPr>
        <p:sp>
          <p:nvSpPr>
            <p:cNvPr id="18" name="Freeform 18"/>
            <p:cNvSpPr/>
            <p:nvPr/>
          </p:nvSpPr>
          <p:spPr>
            <a:xfrm>
              <a:off x="1511220" y="832868"/>
              <a:ext cx="8938886" cy="2133600"/>
            </a:xfrm>
            <a:custGeom>
              <a:avLst/>
              <a:gdLst/>
              <a:ahLst/>
              <a:cxnLst/>
              <a:rect l="l" t="t" r="r" b="b"/>
              <a:pathLst>
                <a:path w="8938885" h="2133600">
                  <a:moveTo>
                    <a:pt x="0" y="355600"/>
                  </a:moveTo>
                  <a:cubicBezTo>
                    <a:pt x="0" y="159258"/>
                    <a:pt x="191417" y="0"/>
                    <a:pt x="427406" y="0"/>
                  </a:cubicBezTo>
                  <a:lnTo>
                    <a:pt x="8511479" y="0"/>
                  </a:lnTo>
                  <a:cubicBezTo>
                    <a:pt x="8747468" y="0"/>
                    <a:pt x="8938885" y="159258"/>
                    <a:pt x="8938885" y="355600"/>
                  </a:cubicBezTo>
                  <a:lnTo>
                    <a:pt x="8938885" y="1778000"/>
                  </a:lnTo>
                  <a:cubicBezTo>
                    <a:pt x="8938885" y="1974342"/>
                    <a:pt x="8747468" y="2133600"/>
                    <a:pt x="8511479" y="2133600"/>
                  </a:cubicBezTo>
                  <a:lnTo>
                    <a:pt x="427406" y="2133600"/>
                  </a:lnTo>
                  <a:cubicBezTo>
                    <a:pt x="191417" y="2133600"/>
                    <a:pt x="0" y="1974342"/>
                    <a:pt x="0" y="1778000"/>
                  </a:cubicBezTo>
                  <a:close/>
                </a:path>
              </a:pathLst>
            </a:custGeom>
            <a:solidFill>
              <a:srgbClr val="234E7D"/>
            </a:solidFill>
            <a:ln w="22860" cap="sq">
              <a:solidFill>
                <a:srgbClr val="234E7D"/>
              </a:solidFill>
              <a:prstDash val="solid"/>
              <a:miter/>
            </a:ln>
          </p:spPr>
          <p:txBody>
            <a:bodyPr/>
            <a:lstStyle/>
            <a:p>
              <a:endParaRPr lang="en-IN" dirty="0"/>
            </a:p>
          </p:txBody>
        </p:sp>
        <p:sp>
          <p:nvSpPr>
            <p:cNvPr id="19" name="TextBox 19"/>
            <p:cNvSpPr txBox="1"/>
            <p:nvPr/>
          </p:nvSpPr>
          <p:spPr>
            <a:xfrm>
              <a:off x="2910577" y="243266"/>
              <a:ext cx="5783914" cy="1359050"/>
            </a:xfrm>
            <a:prstGeom prst="rect">
              <a:avLst/>
            </a:prstGeom>
          </p:spPr>
          <p:txBody>
            <a:bodyPr lIns="50800" tIns="50800" rIns="50800" bIns="50800" rtlCol="0" anchor="ctr"/>
            <a:lstStyle/>
            <a:p>
              <a:pPr algn="ctr">
                <a:lnSpc>
                  <a:spcPts val="4320"/>
                </a:lnSpc>
              </a:pPr>
              <a:r>
                <a:rPr lang="en-IN" sz="4000" b="1" dirty="0">
                  <a:solidFill>
                    <a:schemeClr val="bg1"/>
                  </a:solidFill>
                </a:rPr>
                <a:t>                           </a:t>
              </a:r>
              <a:r>
                <a:rPr lang="en-IN" sz="4000" b="1" u="sng" dirty="0">
                  <a:solidFill>
                    <a:schemeClr val="bg1"/>
                  </a:solidFill>
                </a:rPr>
                <a:t>STATSKILL</a:t>
              </a:r>
              <a:r>
                <a:rPr lang="en-IN" sz="4000" u="sng" dirty="0">
                  <a:solidFill>
                    <a:schemeClr val="bg1"/>
                  </a:solidFill>
                </a:rPr>
                <a:t>-</a:t>
              </a:r>
              <a:r>
                <a:rPr lang="en-US" sz="4000" b="1" u="sng" dirty="0">
                  <a:solidFill>
                    <a:schemeClr val="bg1"/>
                  </a:solidFill>
                  <a:latin typeface="Aptos Bold"/>
                  <a:ea typeface="Aptos Bold"/>
                  <a:cs typeface="Aptos Bold"/>
                  <a:sym typeface="Aptos Bold"/>
                </a:rPr>
                <a:t>AI</a:t>
              </a:r>
            </a:p>
          </p:txBody>
        </p:sp>
      </p:grpSp>
      <p:grpSp>
        <p:nvGrpSpPr>
          <p:cNvPr id="26" name="Group 26"/>
          <p:cNvGrpSpPr/>
          <p:nvPr/>
        </p:nvGrpSpPr>
        <p:grpSpPr>
          <a:xfrm>
            <a:off x="166061" y="2236087"/>
            <a:ext cx="8496235" cy="2541665"/>
            <a:chOff x="-175393" y="-527971"/>
            <a:chExt cx="12820062" cy="1856859"/>
          </a:xfrm>
        </p:grpSpPr>
        <p:sp>
          <p:nvSpPr>
            <p:cNvPr id="27" name="Freeform 27"/>
            <p:cNvSpPr/>
            <p:nvPr/>
          </p:nvSpPr>
          <p:spPr>
            <a:xfrm>
              <a:off x="-175393" y="-304147"/>
              <a:ext cx="12820062" cy="1331920"/>
            </a:xfrm>
            <a:custGeom>
              <a:avLst/>
              <a:gdLst/>
              <a:ahLst/>
              <a:cxnLst/>
              <a:rect l="l" t="t" r="r" b="b"/>
              <a:pathLst>
                <a:path w="10241667" h="1530096">
                  <a:moveTo>
                    <a:pt x="0" y="255016"/>
                  </a:moveTo>
                  <a:cubicBezTo>
                    <a:pt x="0" y="114173"/>
                    <a:pt x="52553" y="0"/>
                    <a:pt x="117382" y="0"/>
                  </a:cubicBezTo>
                  <a:lnTo>
                    <a:pt x="10124285" y="0"/>
                  </a:lnTo>
                  <a:cubicBezTo>
                    <a:pt x="10189114" y="0"/>
                    <a:pt x="10241667" y="114173"/>
                    <a:pt x="10241667" y="255016"/>
                  </a:cubicBezTo>
                  <a:lnTo>
                    <a:pt x="10241667" y="1275080"/>
                  </a:lnTo>
                  <a:cubicBezTo>
                    <a:pt x="10241667" y="1415923"/>
                    <a:pt x="10189114" y="1530096"/>
                    <a:pt x="10124285" y="1530096"/>
                  </a:cubicBezTo>
                  <a:lnTo>
                    <a:pt x="117382" y="1530096"/>
                  </a:lnTo>
                  <a:cubicBezTo>
                    <a:pt x="52553" y="1530096"/>
                    <a:pt x="0" y="1415923"/>
                    <a:pt x="0" y="1275080"/>
                  </a:cubicBezTo>
                  <a:close/>
                </a:path>
              </a:pathLst>
            </a:custGeom>
            <a:solidFill>
              <a:srgbClr val="F4F7F9"/>
            </a:solidFill>
            <a:ln w="22860" cap="sq">
              <a:solidFill>
                <a:srgbClr val="1C7F6E"/>
              </a:solidFill>
              <a:prstDash val="solid"/>
              <a:miter/>
            </a:ln>
          </p:spPr>
          <p:txBody>
            <a:bodyPr/>
            <a:lstStyle/>
            <a:p>
              <a:endParaRPr lang="en-IN"/>
            </a:p>
          </p:txBody>
        </p:sp>
        <p:sp>
          <p:nvSpPr>
            <p:cNvPr id="28" name="TextBox 28"/>
            <p:cNvSpPr txBox="1"/>
            <p:nvPr/>
          </p:nvSpPr>
          <p:spPr>
            <a:xfrm>
              <a:off x="-127238" y="-527971"/>
              <a:ext cx="12467154" cy="1856859"/>
            </a:xfrm>
            <a:prstGeom prst="rect">
              <a:avLst/>
            </a:prstGeom>
          </p:spPr>
          <p:txBody>
            <a:bodyPr lIns="50800" tIns="50800" rIns="50800" bIns="50800" rtlCol="0" anchor="ctr"/>
            <a:lstStyle/>
            <a:p>
              <a:r>
                <a:rPr lang="en-US" sz="2000" dirty="0">
                  <a:solidFill>
                    <a:srgbClr val="232D3C"/>
                  </a:solidFill>
                  <a:latin typeface="Aptos"/>
                </a:rPr>
                <a:t>Learning ≠ Competency Completing a course does not establish what an officer can actually apply . Generic Learning ≠ Personalized Learning Different roles require different competencies and different learning paths. </a:t>
              </a:r>
            </a:p>
            <a:p>
              <a:r>
                <a:rPr lang="en-US" sz="2000" dirty="0">
                  <a:solidFill>
                    <a:srgbClr val="232D3C"/>
                  </a:solidFill>
                  <a:latin typeface="Aptos"/>
                </a:rPr>
                <a:t>One-Time Assessment ≠ Continuous Improvement Competency needs to be measured again after learning to track actual progress..</a:t>
              </a:r>
            </a:p>
            <a:p>
              <a:pPr algn="ctr">
                <a:lnSpc>
                  <a:spcPts val="2340"/>
                </a:lnSpc>
              </a:pPr>
              <a:endParaRPr lang="en-US" sz="1950" b="1" dirty="0">
                <a:solidFill>
                  <a:srgbClr val="232D37"/>
                </a:solidFill>
                <a:latin typeface="Aptos Bold"/>
                <a:ea typeface="Aptos Bold"/>
                <a:cs typeface="Aptos Bold"/>
                <a:sym typeface="Aptos Bold"/>
              </a:endParaRPr>
            </a:p>
          </p:txBody>
        </p:sp>
      </p:grpSp>
      <p:sp>
        <p:nvSpPr>
          <p:cNvPr id="38" name="TextBox 37">
            <a:extLst>
              <a:ext uri="{FF2B5EF4-FFF2-40B4-BE49-F238E27FC236}">
                <a16:creationId xmlns:a16="http://schemas.microsoft.com/office/drawing/2014/main" id="{DCC509AD-5D02-78F1-0E14-A993CD09B201}"/>
              </a:ext>
            </a:extLst>
          </p:cNvPr>
          <p:cNvSpPr txBox="1"/>
          <p:nvPr/>
        </p:nvSpPr>
        <p:spPr>
          <a:xfrm>
            <a:off x="11703460" y="1432107"/>
            <a:ext cx="4580465" cy="646331"/>
          </a:xfrm>
          <a:prstGeom prst="rect">
            <a:avLst/>
          </a:prstGeom>
          <a:noFill/>
        </p:spPr>
        <p:txBody>
          <a:bodyPr wrap="square">
            <a:spAutoFit/>
          </a:bodyPr>
          <a:lstStyle/>
          <a:p>
            <a:endParaRPr lang="en-IN" dirty="0"/>
          </a:p>
          <a:p>
            <a:endParaRPr lang="en-IN" dirty="0"/>
          </a:p>
        </p:txBody>
      </p:sp>
      <p:sp>
        <p:nvSpPr>
          <p:cNvPr id="40" name="TextBox 39">
            <a:extLst>
              <a:ext uri="{FF2B5EF4-FFF2-40B4-BE49-F238E27FC236}">
                <a16:creationId xmlns:a16="http://schemas.microsoft.com/office/drawing/2014/main" id="{DDA7FC53-5FC5-85B7-7DFD-EEAD79C1EF7C}"/>
              </a:ext>
            </a:extLst>
          </p:cNvPr>
          <p:cNvSpPr txBox="1"/>
          <p:nvPr/>
        </p:nvSpPr>
        <p:spPr>
          <a:xfrm>
            <a:off x="4102452" y="1524716"/>
            <a:ext cx="8383420" cy="461665"/>
          </a:xfrm>
          <a:prstGeom prst="rect">
            <a:avLst/>
          </a:prstGeom>
          <a:noFill/>
        </p:spPr>
        <p:txBody>
          <a:bodyPr wrap="square">
            <a:spAutoFit/>
          </a:bodyPr>
          <a:lstStyle/>
          <a:p>
            <a:r>
              <a:rPr lang="en-IN" sz="2400" dirty="0">
                <a:solidFill>
                  <a:schemeClr val="bg1"/>
                </a:solidFill>
              </a:rPr>
              <a:t>          AI-Powered Competency &amp; Learning Intelligence  Platform</a:t>
            </a:r>
          </a:p>
        </p:txBody>
      </p:sp>
      <p:sp>
        <p:nvSpPr>
          <p:cNvPr id="46" name="Rounded Rectangle 7">
            <a:extLst>
              <a:ext uri="{FF2B5EF4-FFF2-40B4-BE49-F238E27FC236}">
                <a16:creationId xmlns:a16="http://schemas.microsoft.com/office/drawing/2014/main" id="{25B8E3EE-F683-D5E6-B5BA-2F3667C71F4C}"/>
              </a:ext>
            </a:extLst>
          </p:cNvPr>
          <p:cNvSpPr/>
          <p:nvPr/>
        </p:nvSpPr>
        <p:spPr>
          <a:xfrm>
            <a:off x="166061" y="4987824"/>
            <a:ext cx="8456174" cy="1040058"/>
          </a:xfrm>
          <a:prstGeom prst="roundRect">
            <a:avLst>
              <a:gd name="adj" fmla="val 16667"/>
            </a:avLst>
          </a:prstGeom>
          <a:solidFill>
            <a:srgbClr val="F2F6F4"/>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solidFill>
                  <a:srgbClr val="194691"/>
                </a:solidFill>
                <a:latin typeface="Aptos"/>
              </a:rPr>
              <a:t>Courses • Learning Resources • Assessments</a:t>
            </a:r>
          </a:p>
          <a:p>
            <a:pPr algn="ctr"/>
            <a:r>
              <a:rPr lang="en-US" sz="2400" b="1" dirty="0" err="1">
                <a:solidFill>
                  <a:srgbClr val="194691"/>
                </a:solidFill>
                <a:latin typeface="Aptos"/>
              </a:rPr>
              <a:t>iGOT</a:t>
            </a:r>
            <a:r>
              <a:rPr lang="en-US" sz="2400" b="1" dirty="0">
                <a:solidFill>
                  <a:srgbClr val="194691"/>
                </a:solidFill>
                <a:latin typeface="Aptos"/>
              </a:rPr>
              <a:t> </a:t>
            </a:r>
            <a:r>
              <a:rPr lang="en-US" sz="2400" b="1" dirty="0" err="1">
                <a:solidFill>
                  <a:srgbClr val="194691"/>
                </a:solidFill>
                <a:latin typeface="Aptos"/>
              </a:rPr>
              <a:t>Karmayogi</a:t>
            </a:r>
            <a:r>
              <a:rPr lang="en-US" sz="2400" b="1" dirty="0">
                <a:solidFill>
                  <a:srgbClr val="194691"/>
                </a:solidFill>
                <a:latin typeface="Aptos"/>
              </a:rPr>
              <a:t> screenshot</a:t>
            </a:r>
          </a:p>
        </p:txBody>
      </p:sp>
      <p:sp>
        <p:nvSpPr>
          <p:cNvPr id="48" name="TextBox 47">
            <a:extLst>
              <a:ext uri="{FF2B5EF4-FFF2-40B4-BE49-F238E27FC236}">
                <a16:creationId xmlns:a16="http://schemas.microsoft.com/office/drawing/2014/main" id="{2BDFEA54-BADA-3BEF-BFEA-1C8EEC4C7AEE}"/>
              </a:ext>
            </a:extLst>
          </p:cNvPr>
          <p:cNvSpPr txBox="1"/>
          <p:nvPr/>
        </p:nvSpPr>
        <p:spPr>
          <a:xfrm>
            <a:off x="11448673" y="3531497"/>
            <a:ext cx="3020370" cy="523220"/>
          </a:xfrm>
          <a:prstGeom prst="rect">
            <a:avLst/>
          </a:prstGeom>
          <a:noFill/>
        </p:spPr>
        <p:txBody>
          <a:bodyPr wrap="square">
            <a:spAutoFit/>
          </a:bodyPr>
          <a:lstStyle/>
          <a:p>
            <a:pPr algn="l"/>
            <a:r>
              <a:rPr lang="en-IN" sz="2800" b="1" dirty="0">
                <a:solidFill>
                  <a:srgbClr val="2363EB"/>
                </a:solidFill>
                <a:latin typeface="Aptos"/>
              </a:rPr>
              <a:t>  </a:t>
            </a:r>
            <a:endParaRPr lang="en-IN" sz="2800" b="1" u="sng" dirty="0">
              <a:solidFill>
                <a:srgbClr val="2363EB"/>
              </a:solidFill>
              <a:latin typeface="Aptos"/>
            </a:endParaRPr>
          </a:p>
        </p:txBody>
      </p:sp>
      <p:grpSp>
        <p:nvGrpSpPr>
          <p:cNvPr id="55" name="Group 40">
            <a:extLst>
              <a:ext uri="{FF2B5EF4-FFF2-40B4-BE49-F238E27FC236}">
                <a16:creationId xmlns:a16="http://schemas.microsoft.com/office/drawing/2014/main" id="{5B01A1CD-F909-18FF-C195-39CDE37AAAEE}"/>
              </a:ext>
            </a:extLst>
          </p:cNvPr>
          <p:cNvGrpSpPr/>
          <p:nvPr/>
        </p:nvGrpSpPr>
        <p:grpSpPr>
          <a:xfrm>
            <a:off x="10053315" y="4648978"/>
            <a:ext cx="8073289" cy="1237273"/>
            <a:chOff x="0" y="0"/>
            <a:chExt cx="10770056" cy="1164336"/>
          </a:xfrm>
          <a:solidFill>
            <a:srgbClr val="F2F6F4"/>
          </a:solidFill>
        </p:grpSpPr>
        <p:sp>
          <p:nvSpPr>
            <p:cNvPr id="56" name="Freeform 41">
              <a:extLst>
                <a:ext uri="{FF2B5EF4-FFF2-40B4-BE49-F238E27FC236}">
                  <a16:creationId xmlns:a16="http://schemas.microsoft.com/office/drawing/2014/main" id="{E7A32DE9-32DD-7A99-DFC4-5EE0886DC355}"/>
                </a:ext>
              </a:extLst>
            </p:cNvPr>
            <p:cNvSpPr/>
            <p:nvPr/>
          </p:nvSpPr>
          <p:spPr>
            <a:xfrm>
              <a:off x="0" y="0"/>
              <a:ext cx="10770056" cy="11643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grpFill/>
            <a:ln w="22860" cap="sq">
              <a:solidFill>
                <a:srgbClr val="1C7F6E"/>
              </a:solidFill>
              <a:prstDash val="solid"/>
              <a:miter/>
            </a:ln>
          </p:spPr>
          <p:txBody>
            <a:bodyPr/>
            <a:lstStyle/>
            <a:p>
              <a:endParaRPr lang="en-IN" dirty="0"/>
            </a:p>
          </p:txBody>
        </p:sp>
      </p:grpSp>
      <p:grpSp>
        <p:nvGrpSpPr>
          <p:cNvPr id="57" name="Group 40">
            <a:extLst>
              <a:ext uri="{FF2B5EF4-FFF2-40B4-BE49-F238E27FC236}">
                <a16:creationId xmlns:a16="http://schemas.microsoft.com/office/drawing/2014/main" id="{4BF453FB-8261-414B-B8DA-B515D8B836B3}"/>
              </a:ext>
            </a:extLst>
          </p:cNvPr>
          <p:cNvGrpSpPr/>
          <p:nvPr/>
        </p:nvGrpSpPr>
        <p:grpSpPr>
          <a:xfrm>
            <a:off x="10016766" y="2184555"/>
            <a:ext cx="8023078" cy="1942882"/>
            <a:chOff x="703892" y="-1029609"/>
            <a:chExt cx="10604398" cy="2111175"/>
          </a:xfrm>
        </p:grpSpPr>
        <p:sp>
          <p:nvSpPr>
            <p:cNvPr id="58" name="Freeform 41">
              <a:extLst>
                <a:ext uri="{FF2B5EF4-FFF2-40B4-BE49-F238E27FC236}">
                  <a16:creationId xmlns:a16="http://schemas.microsoft.com/office/drawing/2014/main" id="{945890F1-8104-001D-A73E-0C7D79F33B57}"/>
                </a:ext>
              </a:extLst>
            </p:cNvPr>
            <p:cNvSpPr/>
            <p:nvPr/>
          </p:nvSpPr>
          <p:spPr>
            <a:xfrm>
              <a:off x="703892" y="-1029609"/>
              <a:ext cx="10604398" cy="211117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2F6F4"/>
            </a:solidFill>
            <a:ln w="22860" cap="sq">
              <a:solidFill>
                <a:srgbClr val="1C7F6E"/>
              </a:solidFill>
              <a:prstDash val="solid"/>
              <a:miter/>
            </a:ln>
          </p:spPr>
          <p:txBody>
            <a:bodyPr/>
            <a:lstStyle/>
            <a:p>
              <a:r>
                <a:rPr lang="en-US" sz="2000" dirty="0">
                  <a:latin typeface="Aptos"/>
                </a:rPr>
                <a:t>  Knowing whether learning actually changes competency . Competency Baseline — What does the officer know today ? </a:t>
              </a:r>
            </a:p>
            <a:p>
              <a:r>
                <a:rPr lang="en-US" sz="2000" dirty="0">
                  <a:latin typeface="Aptos"/>
                </a:rPr>
                <a:t> Skill-Gap Intelligence — What does the role require that is missing ? Personalized Learning Path — What should the officer learn next ? Reassessment — Did competency improve after learning ? Continuous Profile Update — What should be recommended next?</a:t>
              </a:r>
              <a:endParaRPr lang="en-IN" sz="2000" dirty="0">
                <a:latin typeface="Aptos"/>
              </a:endParaRPr>
            </a:p>
            <a:p>
              <a:endParaRPr lang="en-US" b="1" dirty="0">
                <a:solidFill>
                  <a:srgbClr val="192332"/>
                </a:solidFill>
                <a:latin typeface="Aptos"/>
              </a:endParaRPr>
            </a:p>
            <a:p>
              <a:endParaRPr lang="en-IN" dirty="0"/>
            </a:p>
          </p:txBody>
        </p:sp>
      </p:grpSp>
      <p:sp>
        <p:nvSpPr>
          <p:cNvPr id="96" name="TextBox 95">
            <a:extLst>
              <a:ext uri="{FF2B5EF4-FFF2-40B4-BE49-F238E27FC236}">
                <a16:creationId xmlns:a16="http://schemas.microsoft.com/office/drawing/2014/main" id="{A575D12F-A34A-56BF-B973-B4FCC791BB96}"/>
              </a:ext>
            </a:extLst>
          </p:cNvPr>
          <p:cNvSpPr txBox="1"/>
          <p:nvPr/>
        </p:nvSpPr>
        <p:spPr>
          <a:xfrm>
            <a:off x="12811319" y="3516508"/>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sp>
        <p:nvSpPr>
          <p:cNvPr id="98" name="TextBox 97">
            <a:extLst>
              <a:ext uri="{FF2B5EF4-FFF2-40B4-BE49-F238E27FC236}">
                <a16:creationId xmlns:a16="http://schemas.microsoft.com/office/drawing/2014/main" id="{D2B40BB5-893D-3A9B-49FE-9CDE69D254DC}"/>
              </a:ext>
            </a:extLst>
          </p:cNvPr>
          <p:cNvSpPr txBox="1"/>
          <p:nvPr/>
        </p:nvSpPr>
        <p:spPr>
          <a:xfrm>
            <a:off x="12801600" y="4103468"/>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sp>
        <p:nvSpPr>
          <p:cNvPr id="102" name="TextBox 101">
            <a:extLst>
              <a:ext uri="{FF2B5EF4-FFF2-40B4-BE49-F238E27FC236}">
                <a16:creationId xmlns:a16="http://schemas.microsoft.com/office/drawing/2014/main" id="{6C2A23BE-3F7D-0C5A-FA4A-532D606A2EC6}"/>
              </a:ext>
            </a:extLst>
          </p:cNvPr>
          <p:cNvSpPr txBox="1"/>
          <p:nvPr/>
        </p:nvSpPr>
        <p:spPr>
          <a:xfrm>
            <a:off x="12823243" y="5422388"/>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sp>
        <p:nvSpPr>
          <p:cNvPr id="104" name="TextBox 103">
            <a:extLst>
              <a:ext uri="{FF2B5EF4-FFF2-40B4-BE49-F238E27FC236}">
                <a16:creationId xmlns:a16="http://schemas.microsoft.com/office/drawing/2014/main" id="{0ED26D35-2A89-4AF6-5089-6DCC7F21DE99}"/>
              </a:ext>
            </a:extLst>
          </p:cNvPr>
          <p:cNvSpPr txBox="1"/>
          <p:nvPr/>
        </p:nvSpPr>
        <p:spPr>
          <a:xfrm>
            <a:off x="12823243" y="6027882"/>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sp>
        <p:nvSpPr>
          <p:cNvPr id="108" name="TextBox 107">
            <a:extLst>
              <a:ext uri="{FF2B5EF4-FFF2-40B4-BE49-F238E27FC236}">
                <a16:creationId xmlns:a16="http://schemas.microsoft.com/office/drawing/2014/main" id="{D831C1E3-0C8C-B46B-747A-185339EC34CC}"/>
              </a:ext>
            </a:extLst>
          </p:cNvPr>
          <p:cNvSpPr txBox="1"/>
          <p:nvPr/>
        </p:nvSpPr>
        <p:spPr>
          <a:xfrm>
            <a:off x="11192720" y="7151325"/>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sp>
        <p:nvSpPr>
          <p:cNvPr id="112" name="TextBox 111">
            <a:extLst>
              <a:ext uri="{FF2B5EF4-FFF2-40B4-BE49-F238E27FC236}">
                <a16:creationId xmlns:a16="http://schemas.microsoft.com/office/drawing/2014/main" id="{D628168C-D4F9-D251-BA92-B9D8DA6E5ABB}"/>
              </a:ext>
            </a:extLst>
          </p:cNvPr>
          <p:cNvSpPr txBox="1"/>
          <p:nvPr/>
        </p:nvSpPr>
        <p:spPr>
          <a:xfrm>
            <a:off x="12823243" y="8014214"/>
            <a:ext cx="9144000" cy="400110"/>
          </a:xfrm>
          <a:prstGeom prst="rect">
            <a:avLst/>
          </a:prstGeom>
          <a:noFill/>
        </p:spPr>
        <p:txBody>
          <a:bodyPr wrap="square">
            <a:spAutoFit/>
          </a:bodyPr>
          <a:lstStyle/>
          <a:p>
            <a:r>
              <a:rPr lang="en-IN" sz="2000" b="1" dirty="0">
                <a:solidFill>
                  <a:srgbClr val="2363EB"/>
                </a:solidFill>
                <a:latin typeface="Aptos"/>
              </a:rPr>
              <a:t> </a:t>
            </a:r>
            <a:endParaRPr lang="en-IN" dirty="0"/>
          </a:p>
        </p:txBody>
      </p:sp>
      <p:pic>
        <p:nvPicPr>
          <p:cNvPr id="21" name="Picture 20" descr="The image displays a dashboard interface with various analytics and statistics visualizations, including graphs, competency scores, and data quality percentages.&#10;&#10;AI-generated content may be incorrect.">
            <a:extLst>
              <a:ext uri="{FF2B5EF4-FFF2-40B4-BE49-F238E27FC236}">
                <a16:creationId xmlns:a16="http://schemas.microsoft.com/office/drawing/2014/main" id="{FCA7D2A0-390F-9B41-B84A-CAFA1F5D8BB5}"/>
              </a:ext>
            </a:extLst>
          </p:cNvPr>
          <p:cNvPicPr>
            <a:picLocks noChangeAspect="1"/>
          </p:cNvPicPr>
          <p:nvPr/>
        </p:nvPicPr>
        <p:blipFill>
          <a:blip r:embed="rId6">
            <a:extLst>
              <a:ext uri="{28A0092B-C50C-407E-A947-70E740481C1C}">
                <a14:useLocalDpi xmlns:a14="http://schemas.microsoft.com/office/drawing/2010/main" val="0"/>
              </a:ext>
            </a:extLst>
          </a:blip>
          <a:srcRect t="8539" r="1247" b="5065"/>
          <a:stretch>
            <a:fillRect/>
          </a:stretch>
        </p:blipFill>
        <p:spPr>
          <a:xfrm>
            <a:off x="9915745" y="6209508"/>
            <a:ext cx="8193701" cy="3270286"/>
          </a:xfrm>
          <a:prstGeom prst="rect">
            <a:avLst/>
          </a:prstGeom>
        </p:spPr>
      </p:pic>
      <p:pic>
        <p:nvPicPr>
          <p:cNvPr id="23" name="Picture 22">
            <a:extLst>
              <a:ext uri="{FF2B5EF4-FFF2-40B4-BE49-F238E27FC236}">
                <a16:creationId xmlns:a16="http://schemas.microsoft.com/office/drawing/2014/main" id="{3F8F042B-3EB5-401A-8314-41357F99349A}"/>
              </a:ext>
            </a:extLst>
          </p:cNvPr>
          <p:cNvPicPr>
            <a:picLocks noChangeAspect="1"/>
          </p:cNvPicPr>
          <p:nvPr/>
        </p:nvPicPr>
        <p:blipFill>
          <a:blip r:embed="rId7"/>
          <a:srcRect l="984" t="1440" b="57417"/>
          <a:stretch>
            <a:fillRect/>
          </a:stretch>
        </p:blipFill>
        <p:spPr>
          <a:xfrm>
            <a:off x="197945" y="6209507"/>
            <a:ext cx="8456174" cy="3273802"/>
          </a:xfrm>
          <a:prstGeom prst="rect">
            <a:avLst/>
          </a:prstGeom>
        </p:spPr>
      </p:pic>
      <p:sp>
        <p:nvSpPr>
          <p:cNvPr id="32" name="TextBox 31">
            <a:extLst>
              <a:ext uri="{FF2B5EF4-FFF2-40B4-BE49-F238E27FC236}">
                <a16:creationId xmlns:a16="http://schemas.microsoft.com/office/drawing/2014/main" id="{F4460BE1-F77F-79B6-3B97-4BD947F83BB6}"/>
              </a:ext>
            </a:extLst>
          </p:cNvPr>
          <p:cNvSpPr txBox="1"/>
          <p:nvPr/>
        </p:nvSpPr>
        <p:spPr>
          <a:xfrm>
            <a:off x="491422" y="4348791"/>
            <a:ext cx="4620407" cy="646331"/>
          </a:xfrm>
          <a:prstGeom prst="rect">
            <a:avLst/>
          </a:prstGeom>
          <a:noFill/>
        </p:spPr>
        <p:txBody>
          <a:bodyPr wrap="square">
            <a:spAutoFit/>
          </a:bodyPr>
          <a:lstStyle/>
          <a:p>
            <a:r>
              <a:rPr lang="en-IN" sz="3600" b="1" u="sng" dirty="0">
                <a:solidFill>
                  <a:schemeClr val="tx2">
                    <a:lumMod val="60000"/>
                    <a:lumOff val="40000"/>
                  </a:schemeClr>
                </a:solidFill>
              </a:rPr>
              <a:t>WHAT</a:t>
            </a:r>
            <a:r>
              <a:rPr lang="en-IN" sz="3600" b="1" dirty="0">
                <a:solidFill>
                  <a:schemeClr val="tx2">
                    <a:lumMod val="60000"/>
                    <a:lumOff val="40000"/>
                  </a:schemeClr>
                </a:solidFill>
              </a:rPr>
              <a:t> </a:t>
            </a:r>
            <a:r>
              <a:rPr lang="en-IN" sz="3600" b="1" u="sng" dirty="0">
                <a:solidFill>
                  <a:schemeClr val="tx2">
                    <a:lumMod val="60000"/>
                    <a:lumOff val="40000"/>
                  </a:schemeClr>
                </a:solidFill>
              </a:rPr>
              <a:t>EXISTS</a:t>
            </a:r>
            <a:r>
              <a:rPr lang="en-IN" sz="3600" b="1" dirty="0">
                <a:solidFill>
                  <a:schemeClr val="tx2">
                    <a:lumMod val="60000"/>
                    <a:lumOff val="40000"/>
                  </a:schemeClr>
                </a:solidFill>
              </a:rPr>
              <a:t> </a:t>
            </a:r>
          </a:p>
        </p:txBody>
      </p:sp>
      <p:sp>
        <p:nvSpPr>
          <p:cNvPr id="37" name="TextBox 36">
            <a:extLst>
              <a:ext uri="{FF2B5EF4-FFF2-40B4-BE49-F238E27FC236}">
                <a16:creationId xmlns:a16="http://schemas.microsoft.com/office/drawing/2014/main" id="{7DDFB06E-5FBE-3E7F-EB0D-DE808A5D115F}"/>
              </a:ext>
            </a:extLst>
          </p:cNvPr>
          <p:cNvSpPr txBox="1"/>
          <p:nvPr/>
        </p:nvSpPr>
        <p:spPr>
          <a:xfrm>
            <a:off x="14295430" y="1602948"/>
            <a:ext cx="3794625" cy="584775"/>
          </a:xfrm>
          <a:prstGeom prst="rect">
            <a:avLst/>
          </a:prstGeom>
          <a:noFill/>
        </p:spPr>
        <p:txBody>
          <a:bodyPr wrap="square">
            <a:spAutoFit/>
          </a:bodyPr>
          <a:lstStyle/>
          <a:p>
            <a:r>
              <a:rPr lang="en-IN" sz="3200" b="1" u="sng" dirty="0">
                <a:solidFill>
                  <a:schemeClr val="tx2">
                    <a:lumMod val="60000"/>
                    <a:lumOff val="40000"/>
                  </a:schemeClr>
                </a:solidFill>
              </a:rPr>
              <a:t>WHAT'S</a:t>
            </a:r>
            <a:r>
              <a:rPr lang="en-IN" sz="3200" b="1" dirty="0">
                <a:solidFill>
                  <a:schemeClr val="tx2">
                    <a:lumMod val="60000"/>
                    <a:lumOff val="40000"/>
                  </a:schemeClr>
                </a:solidFill>
              </a:rPr>
              <a:t> </a:t>
            </a:r>
            <a:r>
              <a:rPr lang="en-IN" sz="3200" b="1" u="sng" dirty="0">
                <a:solidFill>
                  <a:schemeClr val="tx2">
                    <a:lumMod val="60000"/>
                    <a:lumOff val="40000"/>
                  </a:schemeClr>
                </a:solidFill>
              </a:rPr>
              <a:t>MISSING</a:t>
            </a:r>
          </a:p>
        </p:txBody>
      </p:sp>
      <p:sp>
        <p:nvSpPr>
          <p:cNvPr id="42" name="TextBox 41">
            <a:extLst>
              <a:ext uri="{FF2B5EF4-FFF2-40B4-BE49-F238E27FC236}">
                <a16:creationId xmlns:a16="http://schemas.microsoft.com/office/drawing/2014/main" id="{A1A38522-A090-FC4D-7060-7A27DA3390A7}"/>
              </a:ext>
            </a:extLst>
          </p:cNvPr>
          <p:cNvSpPr txBox="1"/>
          <p:nvPr/>
        </p:nvSpPr>
        <p:spPr>
          <a:xfrm>
            <a:off x="14387111" y="4079575"/>
            <a:ext cx="3409467" cy="584775"/>
          </a:xfrm>
          <a:prstGeom prst="rect">
            <a:avLst/>
          </a:prstGeom>
          <a:noFill/>
        </p:spPr>
        <p:txBody>
          <a:bodyPr wrap="square">
            <a:spAutoFit/>
          </a:bodyPr>
          <a:lstStyle/>
          <a:p>
            <a:r>
              <a:rPr lang="en-IN" sz="3200" b="1" dirty="0">
                <a:solidFill>
                  <a:schemeClr val="accent1"/>
                </a:solidFill>
              </a:rPr>
              <a:t> </a:t>
            </a:r>
            <a:r>
              <a:rPr lang="en-IN" sz="3200" b="1" u="sng" dirty="0">
                <a:solidFill>
                  <a:schemeClr val="accent1"/>
                </a:solidFill>
              </a:rPr>
              <a:t>WHAT</a:t>
            </a:r>
            <a:r>
              <a:rPr lang="en-IN" sz="3200" b="1" dirty="0">
                <a:solidFill>
                  <a:schemeClr val="accent1"/>
                </a:solidFill>
              </a:rPr>
              <a:t> </a:t>
            </a:r>
            <a:r>
              <a:rPr lang="en-IN" sz="3200" b="1" u="sng" dirty="0">
                <a:solidFill>
                  <a:schemeClr val="accent1"/>
                </a:solidFill>
              </a:rPr>
              <a:t>WE</a:t>
            </a:r>
            <a:r>
              <a:rPr lang="en-IN" sz="3200" b="1" dirty="0">
                <a:solidFill>
                  <a:schemeClr val="accent1"/>
                </a:solidFill>
              </a:rPr>
              <a:t> </a:t>
            </a:r>
            <a:r>
              <a:rPr lang="en-IN" sz="3200" b="1" u="sng" dirty="0">
                <a:solidFill>
                  <a:schemeClr val="accent1"/>
                </a:solidFill>
              </a:rPr>
              <a:t>ADD</a:t>
            </a:r>
          </a:p>
        </p:txBody>
      </p:sp>
      <p:sp>
        <p:nvSpPr>
          <p:cNvPr id="45" name="TextBox 44">
            <a:extLst>
              <a:ext uri="{FF2B5EF4-FFF2-40B4-BE49-F238E27FC236}">
                <a16:creationId xmlns:a16="http://schemas.microsoft.com/office/drawing/2014/main" id="{1A67A7AD-958C-2ED7-744E-48B483C7FF2E}"/>
              </a:ext>
            </a:extLst>
          </p:cNvPr>
          <p:cNvSpPr txBox="1"/>
          <p:nvPr/>
        </p:nvSpPr>
        <p:spPr>
          <a:xfrm>
            <a:off x="459819" y="1786332"/>
            <a:ext cx="11013310" cy="646331"/>
          </a:xfrm>
          <a:prstGeom prst="rect">
            <a:avLst/>
          </a:prstGeom>
          <a:noFill/>
        </p:spPr>
        <p:txBody>
          <a:bodyPr wrap="square">
            <a:spAutoFit/>
          </a:bodyPr>
          <a:lstStyle/>
          <a:p>
            <a:r>
              <a:rPr lang="en-IN" sz="3600" b="1" u="sng" dirty="0">
                <a:solidFill>
                  <a:schemeClr val="tx2">
                    <a:lumMod val="60000"/>
                    <a:lumOff val="40000"/>
                  </a:schemeClr>
                </a:solidFill>
              </a:rPr>
              <a:t>WHY</a:t>
            </a:r>
            <a:r>
              <a:rPr lang="en-IN" sz="3600" b="1" dirty="0">
                <a:solidFill>
                  <a:schemeClr val="tx2">
                    <a:lumMod val="60000"/>
                    <a:lumOff val="40000"/>
                  </a:schemeClr>
                </a:solidFill>
              </a:rPr>
              <a:t> </a:t>
            </a:r>
            <a:r>
              <a:rPr lang="en-IN" sz="3600" b="1" u="sng" dirty="0">
                <a:solidFill>
                  <a:schemeClr val="tx2">
                    <a:lumMod val="60000"/>
                    <a:lumOff val="40000"/>
                  </a:schemeClr>
                </a:solidFill>
              </a:rPr>
              <a:t>THIS</a:t>
            </a:r>
            <a:r>
              <a:rPr lang="en-IN" sz="3600" b="1" dirty="0">
                <a:solidFill>
                  <a:schemeClr val="tx2">
                    <a:lumMod val="60000"/>
                    <a:lumOff val="40000"/>
                  </a:schemeClr>
                </a:solidFill>
              </a:rPr>
              <a:t> </a:t>
            </a:r>
            <a:r>
              <a:rPr lang="en-IN" sz="3600" b="1" u="sng" dirty="0">
                <a:solidFill>
                  <a:schemeClr val="tx2">
                    <a:lumMod val="60000"/>
                    <a:lumOff val="40000"/>
                  </a:schemeClr>
                </a:solidFill>
              </a:rPr>
              <a:t>IDEA?</a:t>
            </a:r>
          </a:p>
        </p:txBody>
      </p:sp>
      <p:sp>
        <p:nvSpPr>
          <p:cNvPr id="49" name="TextBox 48">
            <a:extLst>
              <a:ext uri="{FF2B5EF4-FFF2-40B4-BE49-F238E27FC236}">
                <a16:creationId xmlns:a16="http://schemas.microsoft.com/office/drawing/2014/main" id="{43E96A15-DD65-687F-3D73-EB6C8E54A13E}"/>
              </a:ext>
            </a:extLst>
          </p:cNvPr>
          <p:cNvSpPr txBox="1"/>
          <p:nvPr/>
        </p:nvSpPr>
        <p:spPr>
          <a:xfrm>
            <a:off x="10178673" y="4678638"/>
            <a:ext cx="7667846" cy="1200329"/>
          </a:xfrm>
          <a:prstGeom prst="rect">
            <a:avLst/>
          </a:prstGeom>
          <a:noFill/>
        </p:spPr>
        <p:txBody>
          <a:bodyPr wrap="square">
            <a:spAutoFit/>
          </a:bodyPr>
          <a:lstStyle/>
          <a:p>
            <a:r>
              <a:rPr lang="en-IN" b="1" dirty="0"/>
              <a:t>STATSKILL AI</a:t>
            </a:r>
          </a:p>
          <a:p>
            <a:r>
              <a:rPr lang="en-IN" dirty="0"/>
              <a:t>The competency-intelligence layer that connects learning with measurable improvement.</a:t>
            </a:r>
          </a:p>
          <a:p>
            <a:r>
              <a:rPr lang="en-IN" b="1" dirty="0"/>
              <a:t>ASSESS → DIAGNOSE → PERSONALISE → LEARN → REASSESS → IMPROVE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19560172" cy="1006475"/>
          </a:xfrm>
        </p:grpSpPr>
        <p:sp>
          <p:nvSpPr>
            <p:cNvPr id="3" name="Freeform 3"/>
            <p:cNvSpPr/>
            <p:nvPr/>
          </p:nvSpPr>
          <p:spPr>
            <a:xfrm>
              <a:off x="0" y="0"/>
              <a:ext cx="19560172" cy="1006475"/>
            </a:xfrm>
            <a:custGeom>
              <a:avLst/>
              <a:gdLst/>
              <a:ahLst/>
              <a:cxnLst/>
              <a:rect l="l" t="t" r="r" b="b"/>
              <a:pathLst>
                <a:path w="19560172" h="1006475">
                  <a:moveTo>
                    <a:pt x="0" y="0"/>
                  </a:moveTo>
                  <a:lnTo>
                    <a:pt x="19560172" y="0"/>
                  </a:lnTo>
                  <a:lnTo>
                    <a:pt x="19560172"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914400" y="-71438"/>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lang="en-IN"/>
            </a:p>
          </p:txBody>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644719" y="9573769"/>
            <a:ext cx="3423030" cy="547688"/>
            <a:chOff x="0" y="0"/>
            <a:chExt cx="4564040" cy="730250"/>
          </a:xfrm>
        </p:grpSpPr>
        <p:sp>
          <p:nvSpPr>
            <p:cNvPr id="8" name="Freeform 8"/>
            <p:cNvSpPr/>
            <p:nvPr/>
          </p:nvSpPr>
          <p:spPr>
            <a:xfrm>
              <a:off x="0" y="0"/>
              <a:ext cx="4564040" cy="730250"/>
            </a:xfrm>
            <a:custGeom>
              <a:avLst/>
              <a:gdLst/>
              <a:ahLst/>
              <a:cxnLst/>
              <a:rect l="l" t="t" r="r" b="b"/>
              <a:pathLst>
                <a:path w="4564040" h="730250">
                  <a:moveTo>
                    <a:pt x="0" y="0"/>
                  </a:moveTo>
                  <a:lnTo>
                    <a:pt x="4564040" y="0"/>
                  </a:lnTo>
                  <a:lnTo>
                    <a:pt x="4564040" y="730250"/>
                  </a:lnTo>
                  <a:lnTo>
                    <a:pt x="0" y="730250"/>
                  </a:lnTo>
                  <a:close/>
                </a:path>
              </a:pathLst>
            </a:custGeom>
            <a:blipFill>
              <a:blip r:embed="rId3">
                <a:alphaModFix amt="0"/>
              </a:blip>
              <a:stretch>
                <a:fillRect t="-101813" r="-24661" b="-101813"/>
              </a:stretch>
            </a:blipFill>
          </p:spPr>
          <p:txBody>
            <a:bodyPr/>
            <a:lstStyle/>
            <a:p>
              <a:endParaRPr lang="en-IN"/>
            </a:p>
          </p:txBody>
        </p:sp>
        <p:sp>
          <p:nvSpPr>
            <p:cNvPr id="9" name="TextBox 9"/>
            <p:cNvSpPr txBox="1"/>
            <p:nvPr/>
          </p:nvSpPr>
          <p:spPr>
            <a:xfrm>
              <a:off x="0" y="-19050"/>
              <a:ext cx="456404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0" name="Group 10"/>
          <p:cNvGrpSpPr/>
          <p:nvPr/>
        </p:nvGrpSpPr>
        <p:grpSpPr>
          <a:xfrm>
            <a:off x="5592987" y="9534525"/>
            <a:ext cx="3855241" cy="547688"/>
            <a:chOff x="0" y="0"/>
            <a:chExt cx="5140321" cy="730250"/>
          </a:xfrm>
        </p:grpSpPr>
        <p:sp>
          <p:nvSpPr>
            <p:cNvPr id="11" name="Freeform 11"/>
            <p:cNvSpPr/>
            <p:nvPr/>
          </p:nvSpPr>
          <p:spPr>
            <a:xfrm>
              <a:off x="0" y="0"/>
              <a:ext cx="5140321" cy="730250"/>
            </a:xfrm>
            <a:custGeom>
              <a:avLst/>
              <a:gdLst/>
              <a:ahLst/>
              <a:cxnLst/>
              <a:rect l="l" t="t" r="r" b="b"/>
              <a:pathLst>
                <a:path w="5140321" h="730250">
                  <a:moveTo>
                    <a:pt x="0" y="0"/>
                  </a:moveTo>
                  <a:lnTo>
                    <a:pt x="5140321" y="0"/>
                  </a:lnTo>
                  <a:lnTo>
                    <a:pt x="5140321" y="730250"/>
                  </a:lnTo>
                  <a:lnTo>
                    <a:pt x="0" y="730250"/>
                  </a:lnTo>
                  <a:close/>
                </a:path>
              </a:pathLst>
            </a:custGeom>
            <a:blipFill>
              <a:blip r:embed="rId3">
                <a:alphaModFix amt="0"/>
              </a:blip>
              <a:stretch>
                <a:fillRect t="-120982" r="-24661" b="-120982"/>
              </a:stretch>
            </a:blipFill>
          </p:spPr>
          <p:txBody>
            <a:bodyPr/>
            <a:lstStyle/>
            <a:p>
              <a:endParaRPr lang="en-IN"/>
            </a:p>
          </p:txBody>
        </p:sp>
        <p:sp>
          <p:nvSpPr>
            <p:cNvPr id="12" name="TextBox 12"/>
            <p:cNvSpPr txBox="1"/>
            <p:nvPr/>
          </p:nvSpPr>
          <p:spPr>
            <a:xfrm>
              <a:off x="0" y="-9525"/>
              <a:ext cx="5140321" cy="739775"/>
            </a:xfrm>
            <a:prstGeom prst="rect">
              <a:avLst/>
            </a:prstGeom>
          </p:spPr>
          <p:txBody>
            <a:bodyPr lIns="0" tIns="0" rIns="0" bIns="0" rtlCol="0" anchor="ctr"/>
            <a:lstStyle/>
            <a:p>
              <a:pPr algn="ctr">
                <a:lnSpc>
                  <a:spcPts val="1620"/>
                </a:lnSpc>
              </a:pPr>
              <a:r>
                <a:rPr lang="en-US" sz="1350">
                  <a:solidFill>
                    <a:srgbClr val="586570"/>
                  </a:solidFill>
                  <a:latin typeface="Aptos"/>
                  <a:ea typeface="Aptos"/>
                  <a:cs typeface="Aptos"/>
                  <a:sym typeface="Aptos"/>
                </a:rPr>
                <a:t>SMART INDIA HACKATHON 2026</a:t>
              </a:r>
            </a:p>
          </p:txBody>
        </p:sp>
      </p:grpSp>
      <p:grpSp>
        <p:nvGrpSpPr>
          <p:cNvPr id="13" name="Group 13"/>
          <p:cNvGrpSpPr/>
          <p:nvPr/>
        </p:nvGrpSpPr>
        <p:grpSpPr>
          <a:xfrm>
            <a:off x="14670129" y="2248"/>
            <a:ext cx="3374774" cy="1593504"/>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lang="en-IN"/>
            </a:p>
          </p:txBody>
        </p:sp>
      </p:grpSp>
      <p:grpSp>
        <p:nvGrpSpPr>
          <p:cNvPr id="15" name="Group 15"/>
          <p:cNvGrpSpPr/>
          <p:nvPr/>
        </p:nvGrpSpPr>
        <p:grpSpPr>
          <a:xfrm>
            <a:off x="243097" y="189405"/>
            <a:ext cx="1500559" cy="1453658"/>
            <a:chOff x="0" y="0"/>
            <a:chExt cx="2000745" cy="1938210"/>
          </a:xfrm>
        </p:grpSpPr>
        <p:sp>
          <p:nvSpPr>
            <p:cNvPr id="16" name="Freeform 16"/>
            <p:cNvSpPr/>
            <p:nvPr/>
          </p:nvSpPr>
          <p:spPr>
            <a:xfrm>
              <a:off x="0" y="0"/>
              <a:ext cx="2000758" cy="1938274"/>
            </a:xfrm>
            <a:custGeom>
              <a:avLst/>
              <a:gdLst/>
              <a:ahLst/>
              <a:cxnLst/>
              <a:rect l="l" t="t" r="r" b="b"/>
              <a:pathLst>
                <a:path w="2000758" h="1938274">
                  <a:moveTo>
                    <a:pt x="0" y="0"/>
                  </a:moveTo>
                  <a:lnTo>
                    <a:pt x="2000758" y="0"/>
                  </a:lnTo>
                  <a:lnTo>
                    <a:pt x="2000758" y="1938274"/>
                  </a:lnTo>
                  <a:lnTo>
                    <a:pt x="0" y="1938274"/>
                  </a:lnTo>
                  <a:lnTo>
                    <a:pt x="0" y="0"/>
                  </a:lnTo>
                  <a:close/>
                </a:path>
              </a:pathLst>
            </a:custGeom>
            <a:blipFill>
              <a:blip r:embed="rId5"/>
              <a:stretch>
                <a:fillRect t="-1613" b="-1609"/>
              </a:stretch>
            </a:blipFill>
          </p:spPr>
          <p:txBody>
            <a:bodyPr/>
            <a:lstStyle/>
            <a:p>
              <a:endParaRPr lang="en-IN"/>
            </a:p>
          </p:txBody>
        </p:sp>
      </p:grpSp>
      <p:grpSp>
        <p:nvGrpSpPr>
          <p:cNvPr id="17" name="Group 17"/>
          <p:cNvGrpSpPr/>
          <p:nvPr/>
        </p:nvGrpSpPr>
        <p:grpSpPr>
          <a:xfrm>
            <a:off x="595974" y="2526030"/>
            <a:ext cx="1963976" cy="2011680"/>
            <a:chOff x="0" y="0"/>
            <a:chExt cx="2618635" cy="2682240"/>
          </a:xfrm>
        </p:grpSpPr>
        <p:sp>
          <p:nvSpPr>
            <p:cNvPr id="18" name="Freeform 18"/>
            <p:cNvSpPr/>
            <p:nvPr/>
          </p:nvSpPr>
          <p:spPr>
            <a:xfrm>
              <a:off x="0" y="0"/>
              <a:ext cx="2618635" cy="2682240"/>
            </a:xfrm>
            <a:custGeom>
              <a:avLst/>
              <a:gdLst/>
              <a:ahLst/>
              <a:cxnLst/>
              <a:rect l="l" t="t" r="r" b="b"/>
              <a:pathLst>
                <a:path w="2618635" h="2682240">
                  <a:moveTo>
                    <a:pt x="0" y="447040"/>
                  </a:moveTo>
                  <a:cubicBezTo>
                    <a:pt x="0" y="200152"/>
                    <a:pt x="126439" y="0"/>
                    <a:pt x="282402" y="0"/>
                  </a:cubicBezTo>
                  <a:lnTo>
                    <a:pt x="2336234" y="0"/>
                  </a:lnTo>
                  <a:cubicBezTo>
                    <a:pt x="2492196" y="0"/>
                    <a:pt x="2618635" y="200152"/>
                    <a:pt x="2618635" y="447040"/>
                  </a:cubicBezTo>
                  <a:lnTo>
                    <a:pt x="2618635" y="2235200"/>
                  </a:lnTo>
                  <a:cubicBezTo>
                    <a:pt x="2618635" y="2482088"/>
                    <a:pt x="2492196" y="2682240"/>
                    <a:pt x="2336234" y="2682240"/>
                  </a:cubicBezTo>
                  <a:lnTo>
                    <a:pt x="282402" y="2682240"/>
                  </a:lnTo>
                  <a:cubicBezTo>
                    <a:pt x="126439" y="2682240"/>
                    <a:pt x="0" y="2482088"/>
                    <a:pt x="0" y="2235200"/>
                  </a:cubicBezTo>
                  <a:close/>
                </a:path>
              </a:pathLst>
            </a:custGeom>
            <a:solidFill>
              <a:srgbClr val="E7EFF8"/>
            </a:solidFill>
            <a:ln w="22860" cap="sq">
              <a:solidFill>
                <a:srgbClr val="234E7D"/>
              </a:solidFill>
              <a:prstDash val="solid"/>
              <a:miter/>
            </a:ln>
          </p:spPr>
          <p:txBody>
            <a:bodyPr/>
            <a:lstStyle/>
            <a:p>
              <a:endParaRPr lang="en-IN"/>
            </a:p>
          </p:txBody>
        </p:sp>
      </p:grpSp>
      <p:sp>
        <p:nvSpPr>
          <p:cNvPr id="19" name="Arrow 19"/>
          <p:cNvSpPr/>
          <p:nvPr/>
        </p:nvSpPr>
        <p:spPr>
          <a:xfrm>
            <a:off x="2586078" y="3352816"/>
            <a:ext cx="187733" cy="260000"/>
          </a:xfrm>
          <a:prstGeom prst="rightArrow">
            <a:avLst>
              <a:gd name="adj1" fmla="val 60000"/>
              <a:gd name="adj2" fmla="val 60000"/>
            </a:avLst>
          </a:prstGeom>
          <a:solidFill>
            <a:srgbClr val="586570"/>
          </a:solidFill>
          <a:ln>
            <a:noFill/>
          </a:ln>
        </p:spPr>
        <p:txBody>
          <a:bodyPr/>
          <a:lstStyle/>
          <a:p>
            <a:endParaRPr lang="en-US"/>
          </a:p>
        </p:txBody>
      </p:sp>
      <p:grpSp>
        <p:nvGrpSpPr>
          <p:cNvPr id="20" name="Group 20"/>
          <p:cNvGrpSpPr/>
          <p:nvPr/>
        </p:nvGrpSpPr>
        <p:grpSpPr>
          <a:xfrm>
            <a:off x="2805447" y="2526030"/>
            <a:ext cx="1963976" cy="2011680"/>
            <a:chOff x="0" y="0"/>
            <a:chExt cx="2618635" cy="2682240"/>
          </a:xfrm>
        </p:grpSpPr>
        <p:sp>
          <p:nvSpPr>
            <p:cNvPr id="21" name="Freeform 21"/>
            <p:cNvSpPr/>
            <p:nvPr/>
          </p:nvSpPr>
          <p:spPr>
            <a:xfrm>
              <a:off x="0" y="0"/>
              <a:ext cx="2618635" cy="2682240"/>
            </a:xfrm>
            <a:custGeom>
              <a:avLst/>
              <a:gdLst/>
              <a:ahLst/>
              <a:cxnLst/>
              <a:rect l="l" t="t" r="r" b="b"/>
              <a:pathLst>
                <a:path w="2618635" h="2682240">
                  <a:moveTo>
                    <a:pt x="0" y="447040"/>
                  </a:moveTo>
                  <a:cubicBezTo>
                    <a:pt x="0" y="200152"/>
                    <a:pt x="126439" y="0"/>
                    <a:pt x="282402" y="0"/>
                  </a:cubicBezTo>
                  <a:lnTo>
                    <a:pt x="2336234" y="0"/>
                  </a:lnTo>
                  <a:cubicBezTo>
                    <a:pt x="2492196" y="0"/>
                    <a:pt x="2618635" y="200152"/>
                    <a:pt x="2618635" y="447040"/>
                  </a:cubicBezTo>
                  <a:lnTo>
                    <a:pt x="2618635" y="2235200"/>
                  </a:lnTo>
                  <a:cubicBezTo>
                    <a:pt x="2618635" y="2482088"/>
                    <a:pt x="2492196" y="2682240"/>
                    <a:pt x="2336234" y="2682240"/>
                  </a:cubicBezTo>
                  <a:lnTo>
                    <a:pt x="282402" y="2682240"/>
                  </a:lnTo>
                  <a:cubicBezTo>
                    <a:pt x="126439" y="2682240"/>
                    <a:pt x="0" y="2482088"/>
                    <a:pt x="0" y="2235200"/>
                  </a:cubicBezTo>
                  <a:close/>
                </a:path>
              </a:pathLst>
            </a:custGeom>
            <a:solidFill>
              <a:srgbClr val="FDF1E0"/>
            </a:solidFill>
            <a:ln w="22860" cap="sq">
              <a:solidFill>
                <a:srgbClr val="F28C28"/>
              </a:solidFill>
              <a:prstDash val="solid"/>
              <a:miter/>
            </a:ln>
          </p:spPr>
          <p:txBody>
            <a:bodyPr/>
            <a:lstStyle/>
            <a:p>
              <a:endParaRPr lang="en-IN"/>
            </a:p>
          </p:txBody>
        </p:sp>
      </p:grpSp>
      <p:sp>
        <p:nvSpPr>
          <p:cNvPr id="22" name="Arrow 22"/>
          <p:cNvSpPr/>
          <p:nvPr/>
        </p:nvSpPr>
        <p:spPr>
          <a:xfrm>
            <a:off x="4805944" y="3352816"/>
            <a:ext cx="187733" cy="260000"/>
          </a:xfrm>
          <a:prstGeom prst="rightArrow">
            <a:avLst>
              <a:gd name="adj1" fmla="val 60000"/>
              <a:gd name="adj2" fmla="val 60000"/>
            </a:avLst>
          </a:prstGeom>
          <a:solidFill>
            <a:srgbClr val="586570"/>
          </a:solidFill>
          <a:ln>
            <a:noFill/>
          </a:ln>
        </p:spPr>
        <p:txBody>
          <a:bodyPr/>
          <a:lstStyle/>
          <a:p>
            <a:endParaRPr lang="en-US"/>
          </a:p>
        </p:txBody>
      </p:sp>
      <p:grpSp>
        <p:nvGrpSpPr>
          <p:cNvPr id="23" name="Group 23"/>
          <p:cNvGrpSpPr/>
          <p:nvPr/>
        </p:nvGrpSpPr>
        <p:grpSpPr>
          <a:xfrm>
            <a:off x="5014921" y="2526030"/>
            <a:ext cx="1963976" cy="2029968"/>
            <a:chOff x="0" y="0"/>
            <a:chExt cx="2618635" cy="2706624"/>
          </a:xfrm>
        </p:grpSpPr>
        <p:sp>
          <p:nvSpPr>
            <p:cNvPr id="24" name="Freeform 24"/>
            <p:cNvSpPr/>
            <p:nvPr/>
          </p:nvSpPr>
          <p:spPr>
            <a:xfrm>
              <a:off x="0" y="0"/>
              <a:ext cx="2618635" cy="2706624"/>
            </a:xfrm>
            <a:custGeom>
              <a:avLst/>
              <a:gdLst/>
              <a:ahLst/>
              <a:cxnLst/>
              <a:rect l="l" t="t" r="r" b="b"/>
              <a:pathLst>
                <a:path w="2618635" h="2706624">
                  <a:moveTo>
                    <a:pt x="0" y="451104"/>
                  </a:moveTo>
                  <a:cubicBezTo>
                    <a:pt x="0" y="201972"/>
                    <a:pt x="126439" y="0"/>
                    <a:pt x="282402" y="0"/>
                  </a:cubicBezTo>
                  <a:lnTo>
                    <a:pt x="2336234" y="0"/>
                  </a:lnTo>
                  <a:cubicBezTo>
                    <a:pt x="2492196" y="0"/>
                    <a:pt x="2618635" y="201972"/>
                    <a:pt x="2618635" y="451104"/>
                  </a:cubicBezTo>
                  <a:lnTo>
                    <a:pt x="2618635" y="2255520"/>
                  </a:lnTo>
                  <a:cubicBezTo>
                    <a:pt x="2618635" y="2504653"/>
                    <a:pt x="2492196" y="2706624"/>
                    <a:pt x="2336234" y="2706624"/>
                  </a:cubicBezTo>
                  <a:lnTo>
                    <a:pt x="282402" y="2706624"/>
                  </a:lnTo>
                  <a:cubicBezTo>
                    <a:pt x="126439" y="2706624"/>
                    <a:pt x="0" y="2504653"/>
                    <a:pt x="0" y="2255520"/>
                  </a:cubicBezTo>
                  <a:close/>
                </a:path>
              </a:pathLst>
            </a:custGeom>
            <a:solidFill>
              <a:srgbClr val="E6F5F1"/>
            </a:solidFill>
            <a:ln w="22860" cap="sq">
              <a:solidFill>
                <a:srgbClr val="1C7F6E"/>
              </a:solidFill>
              <a:prstDash val="solid"/>
              <a:miter/>
            </a:ln>
          </p:spPr>
          <p:txBody>
            <a:bodyPr/>
            <a:lstStyle/>
            <a:p>
              <a:endParaRPr lang="en-IN"/>
            </a:p>
          </p:txBody>
        </p:sp>
      </p:grpSp>
      <p:sp>
        <p:nvSpPr>
          <p:cNvPr id="25" name="Arrow 25"/>
          <p:cNvSpPr/>
          <p:nvPr/>
        </p:nvSpPr>
        <p:spPr>
          <a:xfrm>
            <a:off x="7017888" y="3358389"/>
            <a:ext cx="187733" cy="260000"/>
          </a:xfrm>
          <a:prstGeom prst="rightArrow">
            <a:avLst>
              <a:gd name="adj1" fmla="val 60000"/>
              <a:gd name="adj2" fmla="val 60000"/>
            </a:avLst>
          </a:prstGeom>
          <a:solidFill>
            <a:srgbClr val="586570"/>
          </a:solidFill>
          <a:ln>
            <a:noFill/>
          </a:ln>
        </p:spPr>
        <p:txBody>
          <a:bodyPr/>
          <a:lstStyle/>
          <a:p>
            <a:endParaRPr lang="en-US"/>
          </a:p>
        </p:txBody>
      </p:sp>
      <p:grpSp>
        <p:nvGrpSpPr>
          <p:cNvPr id="26" name="Group 26"/>
          <p:cNvGrpSpPr/>
          <p:nvPr/>
        </p:nvGrpSpPr>
        <p:grpSpPr>
          <a:xfrm>
            <a:off x="7224394" y="2526030"/>
            <a:ext cx="1963976" cy="2011680"/>
            <a:chOff x="0" y="0"/>
            <a:chExt cx="2618635" cy="2682240"/>
          </a:xfrm>
        </p:grpSpPr>
        <p:sp>
          <p:nvSpPr>
            <p:cNvPr id="27" name="Freeform 27"/>
            <p:cNvSpPr/>
            <p:nvPr/>
          </p:nvSpPr>
          <p:spPr>
            <a:xfrm>
              <a:off x="0" y="0"/>
              <a:ext cx="2618635" cy="2682240"/>
            </a:xfrm>
            <a:custGeom>
              <a:avLst/>
              <a:gdLst/>
              <a:ahLst/>
              <a:cxnLst/>
              <a:rect l="l" t="t" r="r" b="b"/>
              <a:pathLst>
                <a:path w="2618635" h="2682240">
                  <a:moveTo>
                    <a:pt x="0" y="447040"/>
                  </a:moveTo>
                  <a:cubicBezTo>
                    <a:pt x="0" y="200152"/>
                    <a:pt x="126439" y="0"/>
                    <a:pt x="282402" y="0"/>
                  </a:cubicBezTo>
                  <a:lnTo>
                    <a:pt x="2336234" y="0"/>
                  </a:lnTo>
                  <a:cubicBezTo>
                    <a:pt x="2492196" y="0"/>
                    <a:pt x="2618635" y="200152"/>
                    <a:pt x="2618635" y="447040"/>
                  </a:cubicBezTo>
                  <a:lnTo>
                    <a:pt x="2618635" y="2235200"/>
                  </a:lnTo>
                  <a:cubicBezTo>
                    <a:pt x="2618635" y="2482088"/>
                    <a:pt x="2492196" y="2682240"/>
                    <a:pt x="2336234" y="2682240"/>
                  </a:cubicBezTo>
                  <a:lnTo>
                    <a:pt x="282402" y="2682240"/>
                  </a:lnTo>
                  <a:cubicBezTo>
                    <a:pt x="126439" y="2682240"/>
                    <a:pt x="0" y="2482088"/>
                    <a:pt x="0" y="2235200"/>
                  </a:cubicBezTo>
                  <a:close/>
                </a:path>
              </a:pathLst>
            </a:custGeom>
            <a:solidFill>
              <a:srgbClr val="E7EFF8"/>
            </a:solidFill>
            <a:ln w="22860" cap="sq">
              <a:solidFill>
                <a:srgbClr val="234E7D"/>
              </a:solidFill>
              <a:prstDash val="solid"/>
              <a:miter/>
            </a:ln>
          </p:spPr>
          <p:txBody>
            <a:bodyPr/>
            <a:lstStyle/>
            <a:p>
              <a:endParaRPr lang="en-IN"/>
            </a:p>
          </p:txBody>
        </p:sp>
      </p:grpSp>
      <p:grpSp>
        <p:nvGrpSpPr>
          <p:cNvPr id="28" name="Group 28"/>
          <p:cNvGrpSpPr/>
          <p:nvPr/>
        </p:nvGrpSpPr>
        <p:grpSpPr>
          <a:xfrm>
            <a:off x="9433868" y="2526030"/>
            <a:ext cx="1963976" cy="2011680"/>
            <a:chOff x="0" y="0"/>
            <a:chExt cx="2618635" cy="2682240"/>
          </a:xfrm>
        </p:grpSpPr>
        <p:sp>
          <p:nvSpPr>
            <p:cNvPr id="29" name="Freeform 29"/>
            <p:cNvSpPr/>
            <p:nvPr/>
          </p:nvSpPr>
          <p:spPr>
            <a:xfrm>
              <a:off x="0" y="0"/>
              <a:ext cx="2618635" cy="2682240"/>
            </a:xfrm>
            <a:custGeom>
              <a:avLst/>
              <a:gdLst/>
              <a:ahLst/>
              <a:cxnLst/>
              <a:rect l="l" t="t" r="r" b="b"/>
              <a:pathLst>
                <a:path w="2618635" h="2682240">
                  <a:moveTo>
                    <a:pt x="0" y="447040"/>
                  </a:moveTo>
                  <a:cubicBezTo>
                    <a:pt x="0" y="200152"/>
                    <a:pt x="126439" y="0"/>
                    <a:pt x="282402" y="0"/>
                  </a:cubicBezTo>
                  <a:lnTo>
                    <a:pt x="2336234" y="0"/>
                  </a:lnTo>
                  <a:cubicBezTo>
                    <a:pt x="2492196" y="0"/>
                    <a:pt x="2618635" y="200152"/>
                    <a:pt x="2618635" y="447040"/>
                  </a:cubicBezTo>
                  <a:lnTo>
                    <a:pt x="2618635" y="2235200"/>
                  </a:lnTo>
                  <a:cubicBezTo>
                    <a:pt x="2618635" y="2482088"/>
                    <a:pt x="2492196" y="2682240"/>
                    <a:pt x="2336234" y="2682240"/>
                  </a:cubicBezTo>
                  <a:lnTo>
                    <a:pt x="282402" y="2682240"/>
                  </a:lnTo>
                  <a:cubicBezTo>
                    <a:pt x="126439" y="2682240"/>
                    <a:pt x="0" y="2482088"/>
                    <a:pt x="0" y="2235200"/>
                  </a:cubicBezTo>
                  <a:close/>
                </a:path>
              </a:pathLst>
            </a:custGeom>
            <a:solidFill>
              <a:srgbClr val="FDF1E0"/>
            </a:solidFill>
            <a:ln w="22860" cap="sq">
              <a:solidFill>
                <a:srgbClr val="F28C28"/>
              </a:solidFill>
              <a:prstDash val="solid"/>
              <a:miter/>
            </a:ln>
          </p:spPr>
          <p:txBody>
            <a:bodyPr/>
            <a:lstStyle/>
            <a:p>
              <a:endParaRPr lang="en-IN"/>
            </a:p>
          </p:txBody>
        </p:sp>
      </p:grpSp>
      <p:grpSp>
        <p:nvGrpSpPr>
          <p:cNvPr id="30" name="Group 30"/>
          <p:cNvGrpSpPr/>
          <p:nvPr/>
        </p:nvGrpSpPr>
        <p:grpSpPr>
          <a:xfrm>
            <a:off x="595974" y="5474970"/>
            <a:ext cx="5126556" cy="681228"/>
            <a:chOff x="0" y="0"/>
            <a:chExt cx="6835408" cy="908304"/>
          </a:xfrm>
        </p:grpSpPr>
        <p:sp>
          <p:nvSpPr>
            <p:cNvPr id="31" name="Freeform 31"/>
            <p:cNvSpPr/>
            <p:nvPr/>
          </p:nvSpPr>
          <p:spPr>
            <a:xfrm>
              <a:off x="0" y="0"/>
              <a:ext cx="6835408" cy="908304"/>
            </a:xfrm>
            <a:custGeom>
              <a:avLst/>
              <a:gdLst/>
              <a:ahLst/>
              <a:cxnLst/>
              <a:rect l="l" t="t" r="r" b="b"/>
              <a:pathLst>
                <a:path w="6835408" h="908304">
                  <a:moveTo>
                    <a:pt x="0" y="151384"/>
                  </a:moveTo>
                  <a:cubicBezTo>
                    <a:pt x="0" y="67818"/>
                    <a:pt x="42842" y="0"/>
                    <a:pt x="95632" y="0"/>
                  </a:cubicBezTo>
                  <a:lnTo>
                    <a:pt x="6739777" y="0"/>
                  </a:lnTo>
                  <a:cubicBezTo>
                    <a:pt x="6792566" y="0"/>
                    <a:pt x="6835408" y="67818"/>
                    <a:pt x="6835408" y="151384"/>
                  </a:cubicBezTo>
                  <a:lnTo>
                    <a:pt x="6835408" y="756920"/>
                  </a:lnTo>
                  <a:cubicBezTo>
                    <a:pt x="6835408" y="840486"/>
                    <a:pt x="6792566" y="908304"/>
                    <a:pt x="6739777" y="908304"/>
                  </a:cubicBezTo>
                  <a:lnTo>
                    <a:pt x="95632" y="908304"/>
                  </a:lnTo>
                  <a:cubicBezTo>
                    <a:pt x="42842" y="908304"/>
                    <a:pt x="0" y="840486"/>
                    <a:pt x="0" y="756920"/>
                  </a:cubicBezTo>
                  <a:close/>
                </a:path>
              </a:pathLst>
            </a:custGeom>
            <a:solidFill>
              <a:srgbClr val="F4F7F9"/>
            </a:solidFill>
            <a:ln w="22860" cap="sq">
              <a:solidFill>
                <a:srgbClr val="D2DCE4"/>
              </a:solidFill>
              <a:prstDash val="solid"/>
              <a:miter/>
            </a:ln>
          </p:spPr>
          <p:txBody>
            <a:bodyPr/>
            <a:lstStyle/>
            <a:p>
              <a:endParaRPr lang="en-IN"/>
            </a:p>
          </p:txBody>
        </p:sp>
      </p:grpSp>
      <p:grpSp>
        <p:nvGrpSpPr>
          <p:cNvPr id="32" name="Group 32"/>
          <p:cNvGrpSpPr/>
          <p:nvPr/>
        </p:nvGrpSpPr>
        <p:grpSpPr>
          <a:xfrm>
            <a:off x="595974" y="6243066"/>
            <a:ext cx="5126556" cy="681228"/>
            <a:chOff x="0" y="0"/>
            <a:chExt cx="6835408" cy="908304"/>
          </a:xfrm>
        </p:grpSpPr>
        <p:sp>
          <p:nvSpPr>
            <p:cNvPr id="33" name="Freeform 33"/>
            <p:cNvSpPr/>
            <p:nvPr/>
          </p:nvSpPr>
          <p:spPr>
            <a:xfrm>
              <a:off x="0" y="0"/>
              <a:ext cx="6835408" cy="908304"/>
            </a:xfrm>
            <a:custGeom>
              <a:avLst/>
              <a:gdLst/>
              <a:ahLst/>
              <a:cxnLst/>
              <a:rect l="l" t="t" r="r" b="b"/>
              <a:pathLst>
                <a:path w="6835408" h="908304">
                  <a:moveTo>
                    <a:pt x="0" y="151384"/>
                  </a:moveTo>
                  <a:cubicBezTo>
                    <a:pt x="0" y="67818"/>
                    <a:pt x="42842" y="0"/>
                    <a:pt x="95632" y="0"/>
                  </a:cubicBezTo>
                  <a:lnTo>
                    <a:pt x="6739777" y="0"/>
                  </a:lnTo>
                  <a:cubicBezTo>
                    <a:pt x="6792566" y="0"/>
                    <a:pt x="6835408" y="67818"/>
                    <a:pt x="6835408" y="151384"/>
                  </a:cubicBezTo>
                  <a:lnTo>
                    <a:pt x="6835408" y="756920"/>
                  </a:lnTo>
                  <a:cubicBezTo>
                    <a:pt x="6835408" y="840486"/>
                    <a:pt x="6792566" y="908304"/>
                    <a:pt x="6739777" y="908304"/>
                  </a:cubicBezTo>
                  <a:lnTo>
                    <a:pt x="95632" y="908304"/>
                  </a:lnTo>
                  <a:cubicBezTo>
                    <a:pt x="42842" y="908304"/>
                    <a:pt x="0" y="840486"/>
                    <a:pt x="0" y="756920"/>
                  </a:cubicBezTo>
                  <a:close/>
                </a:path>
              </a:pathLst>
            </a:custGeom>
            <a:solidFill>
              <a:srgbClr val="F4F7F9"/>
            </a:solidFill>
            <a:ln w="22860" cap="sq">
              <a:solidFill>
                <a:srgbClr val="D2DCE4"/>
              </a:solidFill>
              <a:prstDash val="solid"/>
              <a:miter/>
            </a:ln>
          </p:spPr>
          <p:txBody>
            <a:bodyPr/>
            <a:lstStyle/>
            <a:p>
              <a:endParaRPr lang="en-IN"/>
            </a:p>
          </p:txBody>
        </p:sp>
      </p:grpSp>
      <p:grpSp>
        <p:nvGrpSpPr>
          <p:cNvPr id="34" name="Group 34"/>
          <p:cNvGrpSpPr/>
          <p:nvPr/>
        </p:nvGrpSpPr>
        <p:grpSpPr>
          <a:xfrm>
            <a:off x="595974" y="7011162"/>
            <a:ext cx="5126556" cy="681228"/>
            <a:chOff x="0" y="0"/>
            <a:chExt cx="6835408" cy="908304"/>
          </a:xfrm>
        </p:grpSpPr>
        <p:sp>
          <p:nvSpPr>
            <p:cNvPr id="35" name="Freeform 35"/>
            <p:cNvSpPr/>
            <p:nvPr/>
          </p:nvSpPr>
          <p:spPr>
            <a:xfrm>
              <a:off x="0" y="0"/>
              <a:ext cx="6835408" cy="908304"/>
            </a:xfrm>
            <a:custGeom>
              <a:avLst/>
              <a:gdLst/>
              <a:ahLst/>
              <a:cxnLst/>
              <a:rect l="l" t="t" r="r" b="b"/>
              <a:pathLst>
                <a:path w="6835408" h="908304">
                  <a:moveTo>
                    <a:pt x="0" y="151384"/>
                  </a:moveTo>
                  <a:cubicBezTo>
                    <a:pt x="0" y="67818"/>
                    <a:pt x="42842" y="0"/>
                    <a:pt x="95632" y="0"/>
                  </a:cubicBezTo>
                  <a:lnTo>
                    <a:pt x="6739777" y="0"/>
                  </a:lnTo>
                  <a:cubicBezTo>
                    <a:pt x="6792566" y="0"/>
                    <a:pt x="6835408" y="67818"/>
                    <a:pt x="6835408" y="151384"/>
                  </a:cubicBezTo>
                  <a:lnTo>
                    <a:pt x="6835408" y="756920"/>
                  </a:lnTo>
                  <a:cubicBezTo>
                    <a:pt x="6835408" y="840486"/>
                    <a:pt x="6792566" y="908304"/>
                    <a:pt x="6739777" y="908304"/>
                  </a:cubicBezTo>
                  <a:lnTo>
                    <a:pt x="95632" y="908304"/>
                  </a:lnTo>
                  <a:cubicBezTo>
                    <a:pt x="42842" y="908304"/>
                    <a:pt x="0" y="840486"/>
                    <a:pt x="0" y="756920"/>
                  </a:cubicBezTo>
                  <a:close/>
                </a:path>
              </a:pathLst>
            </a:custGeom>
            <a:solidFill>
              <a:srgbClr val="F4F7F9"/>
            </a:solidFill>
            <a:ln w="22860" cap="sq">
              <a:solidFill>
                <a:srgbClr val="D2DCE4"/>
              </a:solidFill>
              <a:prstDash val="solid"/>
              <a:miter/>
            </a:ln>
          </p:spPr>
          <p:txBody>
            <a:bodyPr/>
            <a:lstStyle/>
            <a:p>
              <a:endParaRPr lang="en-IN"/>
            </a:p>
          </p:txBody>
        </p:sp>
      </p:grpSp>
      <p:grpSp>
        <p:nvGrpSpPr>
          <p:cNvPr id="36" name="Group 36"/>
          <p:cNvGrpSpPr/>
          <p:nvPr/>
        </p:nvGrpSpPr>
        <p:grpSpPr>
          <a:xfrm>
            <a:off x="595974" y="7779258"/>
            <a:ext cx="5126556" cy="681228"/>
            <a:chOff x="0" y="0"/>
            <a:chExt cx="6835408" cy="908304"/>
          </a:xfrm>
        </p:grpSpPr>
        <p:sp>
          <p:nvSpPr>
            <p:cNvPr id="37" name="Freeform 37"/>
            <p:cNvSpPr/>
            <p:nvPr/>
          </p:nvSpPr>
          <p:spPr>
            <a:xfrm>
              <a:off x="0" y="0"/>
              <a:ext cx="6835408" cy="908304"/>
            </a:xfrm>
            <a:custGeom>
              <a:avLst/>
              <a:gdLst/>
              <a:ahLst/>
              <a:cxnLst/>
              <a:rect l="l" t="t" r="r" b="b"/>
              <a:pathLst>
                <a:path w="6835408" h="908304">
                  <a:moveTo>
                    <a:pt x="0" y="151384"/>
                  </a:moveTo>
                  <a:cubicBezTo>
                    <a:pt x="0" y="67818"/>
                    <a:pt x="42842" y="0"/>
                    <a:pt x="95632" y="0"/>
                  </a:cubicBezTo>
                  <a:lnTo>
                    <a:pt x="6739777" y="0"/>
                  </a:lnTo>
                  <a:cubicBezTo>
                    <a:pt x="6792566" y="0"/>
                    <a:pt x="6835408" y="67818"/>
                    <a:pt x="6835408" y="151384"/>
                  </a:cubicBezTo>
                  <a:lnTo>
                    <a:pt x="6835408" y="756920"/>
                  </a:lnTo>
                  <a:cubicBezTo>
                    <a:pt x="6835408" y="840486"/>
                    <a:pt x="6792566" y="908304"/>
                    <a:pt x="6739777" y="908304"/>
                  </a:cubicBezTo>
                  <a:lnTo>
                    <a:pt x="95632" y="908304"/>
                  </a:lnTo>
                  <a:cubicBezTo>
                    <a:pt x="42842" y="908304"/>
                    <a:pt x="0" y="840486"/>
                    <a:pt x="0" y="756920"/>
                  </a:cubicBezTo>
                  <a:close/>
                </a:path>
              </a:pathLst>
            </a:custGeom>
            <a:solidFill>
              <a:srgbClr val="F4F7F9"/>
            </a:solidFill>
            <a:ln w="22860" cap="sq">
              <a:solidFill>
                <a:srgbClr val="D2DCE4"/>
              </a:solidFill>
              <a:prstDash val="solid"/>
              <a:miter/>
            </a:ln>
          </p:spPr>
          <p:txBody>
            <a:bodyPr/>
            <a:lstStyle/>
            <a:p>
              <a:endParaRPr lang="en-IN"/>
            </a:p>
          </p:txBody>
        </p:sp>
      </p:grpSp>
      <p:grpSp>
        <p:nvGrpSpPr>
          <p:cNvPr id="38" name="Group 38"/>
          <p:cNvGrpSpPr/>
          <p:nvPr/>
        </p:nvGrpSpPr>
        <p:grpSpPr>
          <a:xfrm>
            <a:off x="595974" y="8547354"/>
            <a:ext cx="5126556" cy="681228"/>
            <a:chOff x="0" y="0"/>
            <a:chExt cx="6835408" cy="908304"/>
          </a:xfrm>
        </p:grpSpPr>
        <p:sp>
          <p:nvSpPr>
            <p:cNvPr id="39" name="Freeform 39"/>
            <p:cNvSpPr/>
            <p:nvPr/>
          </p:nvSpPr>
          <p:spPr>
            <a:xfrm>
              <a:off x="0" y="0"/>
              <a:ext cx="6835408" cy="908304"/>
            </a:xfrm>
            <a:custGeom>
              <a:avLst/>
              <a:gdLst/>
              <a:ahLst/>
              <a:cxnLst/>
              <a:rect l="l" t="t" r="r" b="b"/>
              <a:pathLst>
                <a:path w="6835408" h="908304">
                  <a:moveTo>
                    <a:pt x="0" y="151384"/>
                  </a:moveTo>
                  <a:cubicBezTo>
                    <a:pt x="0" y="67818"/>
                    <a:pt x="42842" y="0"/>
                    <a:pt x="95632" y="0"/>
                  </a:cubicBezTo>
                  <a:lnTo>
                    <a:pt x="6739777" y="0"/>
                  </a:lnTo>
                  <a:cubicBezTo>
                    <a:pt x="6792566" y="0"/>
                    <a:pt x="6835408" y="67818"/>
                    <a:pt x="6835408" y="151384"/>
                  </a:cubicBezTo>
                  <a:lnTo>
                    <a:pt x="6835408" y="756920"/>
                  </a:lnTo>
                  <a:cubicBezTo>
                    <a:pt x="6835408" y="840486"/>
                    <a:pt x="6792566" y="908304"/>
                    <a:pt x="6739777" y="908304"/>
                  </a:cubicBezTo>
                  <a:lnTo>
                    <a:pt x="95632" y="908304"/>
                  </a:lnTo>
                  <a:cubicBezTo>
                    <a:pt x="42842" y="908304"/>
                    <a:pt x="0" y="840486"/>
                    <a:pt x="0" y="756920"/>
                  </a:cubicBezTo>
                  <a:close/>
                </a:path>
              </a:pathLst>
            </a:custGeom>
            <a:solidFill>
              <a:srgbClr val="F4F7F9"/>
            </a:solidFill>
            <a:ln w="22860" cap="sq">
              <a:solidFill>
                <a:srgbClr val="D2DCE4"/>
              </a:solidFill>
              <a:prstDash val="solid"/>
              <a:miter/>
            </a:ln>
          </p:spPr>
          <p:txBody>
            <a:bodyPr/>
            <a:lstStyle/>
            <a:p>
              <a:endParaRPr lang="en-IN"/>
            </a:p>
          </p:txBody>
        </p:sp>
      </p:grpSp>
      <p:grpSp>
        <p:nvGrpSpPr>
          <p:cNvPr id="40" name="Group 40"/>
          <p:cNvGrpSpPr/>
          <p:nvPr/>
        </p:nvGrpSpPr>
        <p:grpSpPr>
          <a:xfrm>
            <a:off x="5968027" y="5474970"/>
            <a:ext cx="5126556" cy="873252"/>
            <a:chOff x="0" y="0"/>
            <a:chExt cx="6835408" cy="1164336"/>
          </a:xfrm>
        </p:grpSpPr>
        <p:sp>
          <p:nvSpPr>
            <p:cNvPr id="41" name="Freeform 41"/>
            <p:cNvSpPr/>
            <p:nvPr/>
          </p:nvSpPr>
          <p:spPr>
            <a:xfrm>
              <a:off x="0" y="0"/>
              <a:ext cx="6835408" cy="11643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a:p>
          </p:txBody>
        </p:sp>
      </p:grpSp>
      <p:grpSp>
        <p:nvGrpSpPr>
          <p:cNvPr id="42" name="Group 42"/>
          <p:cNvGrpSpPr/>
          <p:nvPr/>
        </p:nvGrpSpPr>
        <p:grpSpPr>
          <a:xfrm>
            <a:off x="5968027" y="6462522"/>
            <a:ext cx="5126556" cy="873252"/>
            <a:chOff x="0" y="0"/>
            <a:chExt cx="6835408" cy="1164336"/>
          </a:xfrm>
        </p:grpSpPr>
        <p:sp>
          <p:nvSpPr>
            <p:cNvPr id="43" name="Freeform 43"/>
            <p:cNvSpPr/>
            <p:nvPr/>
          </p:nvSpPr>
          <p:spPr>
            <a:xfrm>
              <a:off x="0" y="0"/>
              <a:ext cx="6835408" cy="11643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a:p>
          </p:txBody>
        </p:sp>
      </p:grpSp>
      <p:grpSp>
        <p:nvGrpSpPr>
          <p:cNvPr id="44" name="Group 44"/>
          <p:cNvGrpSpPr/>
          <p:nvPr/>
        </p:nvGrpSpPr>
        <p:grpSpPr>
          <a:xfrm>
            <a:off x="5968027" y="7450074"/>
            <a:ext cx="5126556" cy="873252"/>
            <a:chOff x="0" y="0"/>
            <a:chExt cx="6835408" cy="1164336"/>
          </a:xfrm>
        </p:grpSpPr>
        <p:sp>
          <p:nvSpPr>
            <p:cNvPr id="45" name="Freeform 45"/>
            <p:cNvSpPr/>
            <p:nvPr/>
          </p:nvSpPr>
          <p:spPr>
            <a:xfrm>
              <a:off x="0" y="0"/>
              <a:ext cx="6835408" cy="11643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a:p>
          </p:txBody>
        </p:sp>
      </p:grpSp>
      <p:grpSp>
        <p:nvGrpSpPr>
          <p:cNvPr id="46" name="Group 46"/>
          <p:cNvGrpSpPr/>
          <p:nvPr/>
        </p:nvGrpSpPr>
        <p:grpSpPr>
          <a:xfrm>
            <a:off x="5968027" y="8437626"/>
            <a:ext cx="5126556" cy="873252"/>
            <a:chOff x="0" y="0"/>
            <a:chExt cx="6835408" cy="1164336"/>
          </a:xfrm>
        </p:grpSpPr>
        <p:sp>
          <p:nvSpPr>
            <p:cNvPr id="47" name="Freeform 47"/>
            <p:cNvSpPr/>
            <p:nvPr/>
          </p:nvSpPr>
          <p:spPr>
            <a:xfrm>
              <a:off x="0" y="0"/>
              <a:ext cx="6835408" cy="11643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a:p>
          </p:txBody>
        </p:sp>
      </p:grpSp>
      <p:sp>
        <p:nvSpPr>
          <p:cNvPr id="48" name="Freeform 48"/>
          <p:cNvSpPr/>
          <p:nvPr/>
        </p:nvSpPr>
        <p:spPr>
          <a:xfrm>
            <a:off x="12225107" y="1595752"/>
            <a:ext cx="5934730" cy="7948299"/>
          </a:xfrm>
          <a:custGeom>
            <a:avLst/>
            <a:gdLst/>
            <a:ahLst/>
            <a:cxnLst/>
            <a:rect l="l" t="t" r="r" b="b"/>
            <a:pathLst>
              <a:path w="5934730" h="7948299">
                <a:moveTo>
                  <a:pt x="0" y="0"/>
                </a:moveTo>
                <a:lnTo>
                  <a:pt x="5934731" y="0"/>
                </a:lnTo>
                <a:lnTo>
                  <a:pt x="5934731" y="7948299"/>
                </a:lnTo>
                <a:lnTo>
                  <a:pt x="0" y="7948299"/>
                </a:lnTo>
                <a:lnTo>
                  <a:pt x="0" y="0"/>
                </a:lnTo>
                <a:close/>
              </a:path>
            </a:pathLst>
          </a:custGeom>
          <a:blipFill>
            <a:blip r:embed="rId6"/>
            <a:stretch>
              <a:fillRect/>
            </a:stretch>
          </a:blipFill>
        </p:spPr>
        <p:txBody>
          <a:bodyPr/>
          <a:lstStyle/>
          <a:p>
            <a:endParaRPr lang="en-IN"/>
          </a:p>
        </p:txBody>
      </p:sp>
      <p:sp>
        <p:nvSpPr>
          <p:cNvPr id="49" name="TextBox 49"/>
          <p:cNvSpPr txBox="1"/>
          <p:nvPr/>
        </p:nvSpPr>
        <p:spPr>
          <a:xfrm>
            <a:off x="868096" y="1856232"/>
            <a:ext cx="4645813" cy="342900"/>
          </a:xfrm>
          <a:prstGeom prst="rect">
            <a:avLst/>
          </a:prstGeom>
        </p:spPr>
        <p:txBody>
          <a:bodyPr lIns="0" tIns="0" rIns="0" bIns="0" rtlCol="0" anchor="t">
            <a:spAutoFit/>
          </a:bodyPr>
          <a:lstStyle/>
          <a:p>
            <a:pPr algn="l">
              <a:lnSpc>
                <a:spcPts val="2700"/>
              </a:lnSpc>
            </a:pPr>
            <a:r>
              <a:rPr lang="en-US" sz="2250" b="1" u="sng">
                <a:solidFill>
                  <a:srgbClr val="234E7D"/>
                </a:solidFill>
                <a:latin typeface="Aptos Bold"/>
                <a:ea typeface="Aptos Bold"/>
                <a:cs typeface="Aptos Bold"/>
                <a:sym typeface="Aptos Bold"/>
              </a:rPr>
              <a:t>END-TO-END ARCHITECTURE</a:t>
            </a:r>
          </a:p>
        </p:txBody>
      </p:sp>
      <p:sp>
        <p:nvSpPr>
          <p:cNvPr id="50" name="TextBox 50"/>
          <p:cNvSpPr txBox="1"/>
          <p:nvPr/>
        </p:nvSpPr>
        <p:spPr>
          <a:xfrm>
            <a:off x="764934" y="2628900"/>
            <a:ext cx="1626057" cy="582788"/>
          </a:xfrm>
          <a:prstGeom prst="rect">
            <a:avLst/>
          </a:prstGeom>
        </p:spPr>
        <p:txBody>
          <a:bodyPr lIns="0" tIns="0" rIns="0" bIns="0" rtlCol="0" anchor="t">
            <a:spAutoFit/>
          </a:bodyPr>
          <a:lstStyle/>
          <a:p>
            <a:pPr algn="ctr">
              <a:lnSpc>
                <a:spcPts val="2250"/>
              </a:lnSpc>
            </a:pPr>
            <a:r>
              <a:rPr lang="en-US" sz="1875" b="1" u="sng">
                <a:solidFill>
                  <a:srgbClr val="234E7D"/>
                </a:solidFill>
                <a:latin typeface="Aptos Bold"/>
                <a:ea typeface="Aptos Bold"/>
                <a:cs typeface="Aptos Bold"/>
                <a:sym typeface="Aptos Bold"/>
              </a:rPr>
              <a:t>Learner</a:t>
            </a:r>
            <a:r>
              <a:rPr lang="en-US" sz="1875" b="1">
                <a:solidFill>
                  <a:srgbClr val="234E7D"/>
                </a:solidFill>
                <a:latin typeface="Aptos Bold"/>
                <a:ea typeface="Aptos Bold"/>
                <a:cs typeface="Aptos Bold"/>
                <a:sym typeface="Aptos Bold"/>
              </a:rPr>
              <a:t> / </a:t>
            </a:r>
            <a:r>
              <a:rPr lang="en-US" sz="1875" b="1" u="sng">
                <a:solidFill>
                  <a:srgbClr val="234E7D"/>
                </a:solidFill>
                <a:latin typeface="Aptos Bold"/>
                <a:ea typeface="Aptos Bold"/>
                <a:cs typeface="Aptos Bold"/>
                <a:sym typeface="Aptos Bold"/>
              </a:rPr>
              <a:t>Admin</a:t>
            </a:r>
          </a:p>
        </p:txBody>
      </p:sp>
      <p:sp>
        <p:nvSpPr>
          <p:cNvPr id="51" name="TextBox 51"/>
          <p:cNvSpPr txBox="1"/>
          <p:nvPr/>
        </p:nvSpPr>
        <p:spPr>
          <a:xfrm>
            <a:off x="764934" y="3310128"/>
            <a:ext cx="1626057" cy="914400"/>
          </a:xfrm>
          <a:prstGeom prst="rect">
            <a:avLst/>
          </a:prstGeom>
        </p:spPr>
        <p:txBody>
          <a:bodyPr lIns="0" tIns="0" rIns="0" bIns="0" rtlCol="0" anchor="t">
            <a:spAutoFit/>
          </a:bodyPr>
          <a:lstStyle/>
          <a:p>
            <a:pPr algn="ctr">
              <a:lnSpc>
                <a:spcPts val="1800"/>
              </a:lnSpc>
            </a:pPr>
            <a:r>
              <a:rPr lang="en-US" sz="1500">
                <a:solidFill>
                  <a:srgbClr val="232D37"/>
                </a:solidFill>
                <a:latin typeface="Aptos"/>
                <a:ea typeface="Aptos"/>
                <a:cs typeface="Aptos"/>
                <a:sym typeface="Aptos"/>
              </a:rPr>
              <a:t>Role • Profile  Learning history</a:t>
            </a:r>
          </a:p>
          <a:p>
            <a:pPr algn="ctr">
              <a:lnSpc>
                <a:spcPts val="1800"/>
              </a:lnSpc>
            </a:pPr>
            <a:r>
              <a:rPr lang="en-US" sz="1500">
                <a:solidFill>
                  <a:srgbClr val="232D37"/>
                </a:solidFill>
                <a:latin typeface="Aptos"/>
                <a:ea typeface="Aptos"/>
                <a:cs typeface="Aptos"/>
                <a:sym typeface="Aptos"/>
              </a:rPr>
              <a:t>Self-assessment  Uploads</a:t>
            </a:r>
          </a:p>
        </p:txBody>
      </p:sp>
      <p:sp>
        <p:nvSpPr>
          <p:cNvPr id="52" name="TextBox 52"/>
          <p:cNvSpPr txBox="1"/>
          <p:nvPr/>
        </p:nvSpPr>
        <p:spPr>
          <a:xfrm>
            <a:off x="2942771" y="2568702"/>
            <a:ext cx="1626057" cy="582788"/>
          </a:xfrm>
          <a:prstGeom prst="rect">
            <a:avLst/>
          </a:prstGeom>
        </p:spPr>
        <p:txBody>
          <a:bodyPr lIns="0" tIns="0" rIns="0" bIns="0" rtlCol="0" anchor="t">
            <a:spAutoFit/>
          </a:bodyPr>
          <a:lstStyle/>
          <a:p>
            <a:pPr algn="ctr">
              <a:lnSpc>
                <a:spcPts val="2250"/>
              </a:lnSpc>
            </a:pPr>
            <a:r>
              <a:rPr lang="en-US" sz="1875" b="1" u="sng">
                <a:solidFill>
                  <a:srgbClr val="F28C28"/>
                </a:solidFill>
                <a:latin typeface="Aptos Bold"/>
                <a:ea typeface="Aptos Bold"/>
                <a:cs typeface="Aptos Bold"/>
                <a:sym typeface="Aptos Bold"/>
              </a:rPr>
              <a:t>Content Ingestion</a:t>
            </a:r>
          </a:p>
        </p:txBody>
      </p:sp>
      <p:sp>
        <p:nvSpPr>
          <p:cNvPr id="53" name="TextBox 53"/>
          <p:cNvSpPr txBox="1"/>
          <p:nvPr/>
        </p:nvSpPr>
        <p:spPr>
          <a:xfrm>
            <a:off x="2942771" y="3200400"/>
            <a:ext cx="1626057" cy="914400"/>
          </a:xfrm>
          <a:prstGeom prst="rect">
            <a:avLst/>
          </a:prstGeom>
        </p:spPr>
        <p:txBody>
          <a:bodyPr lIns="0" tIns="0" rIns="0" bIns="0" rtlCol="0" anchor="t">
            <a:spAutoFit/>
          </a:bodyPr>
          <a:lstStyle/>
          <a:p>
            <a:pPr algn="ctr">
              <a:lnSpc>
                <a:spcPts val="1800"/>
              </a:lnSpc>
            </a:pPr>
            <a:r>
              <a:rPr lang="en-US" sz="1500">
                <a:solidFill>
                  <a:srgbClr val="232D37"/>
                </a:solidFill>
                <a:latin typeface="Aptos"/>
                <a:ea typeface="Aptos"/>
                <a:cs typeface="Aptos"/>
                <a:sym typeface="Aptos"/>
              </a:rPr>
              <a:t>PDF/PPT/DOCX → OCR → chunks</a:t>
            </a:r>
          </a:p>
          <a:p>
            <a:pPr algn="ctr">
              <a:lnSpc>
                <a:spcPts val="1800"/>
              </a:lnSpc>
            </a:pPr>
            <a:r>
              <a:rPr lang="en-US" sz="1500">
                <a:solidFill>
                  <a:srgbClr val="232D37"/>
                </a:solidFill>
                <a:latin typeface="Aptos"/>
                <a:ea typeface="Aptos"/>
                <a:cs typeface="Aptos"/>
                <a:sym typeface="Aptos"/>
              </a:rPr>
              <a:t>Metadata + competency tags</a:t>
            </a:r>
          </a:p>
        </p:txBody>
      </p:sp>
      <p:sp>
        <p:nvSpPr>
          <p:cNvPr id="54" name="TextBox 54"/>
          <p:cNvSpPr txBox="1"/>
          <p:nvPr/>
        </p:nvSpPr>
        <p:spPr>
          <a:xfrm>
            <a:off x="5154999" y="2568702"/>
            <a:ext cx="1626057" cy="285750"/>
          </a:xfrm>
          <a:prstGeom prst="rect">
            <a:avLst/>
          </a:prstGeom>
        </p:spPr>
        <p:txBody>
          <a:bodyPr lIns="0" tIns="0" rIns="0" bIns="0" rtlCol="0" anchor="t">
            <a:spAutoFit/>
          </a:bodyPr>
          <a:lstStyle/>
          <a:p>
            <a:pPr algn="ctr">
              <a:lnSpc>
                <a:spcPts val="2250"/>
              </a:lnSpc>
            </a:pPr>
            <a:r>
              <a:rPr lang="en-US" sz="1875" b="1" u="sng">
                <a:solidFill>
                  <a:srgbClr val="1C7F6E"/>
                </a:solidFill>
                <a:latin typeface="Aptos Bold"/>
                <a:ea typeface="Aptos Bold"/>
                <a:cs typeface="Aptos Bold"/>
                <a:sym typeface="Aptos Bold"/>
              </a:rPr>
              <a:t>AI Intelligence</a:t>
            </a:r>
          </a:p>
        </p:txBody>
      </p:sp>
      <p:sp>
        <p:nvSpPr>
          <p:cNvPr id="55" name="TextBox 55"/>
          <p:cNvSpPr txBox="1"/>
          <p:nvPr/>
        </p:nvSpPr>
        <p:spPr>
          <a:xfrm>
            <a:off x="5183881" y="3102102"/>
            <a:ext cx="1626057" cy="923330"/>
          </a:xfrm>
          <a:prstGeom prst="rect">
            <a:avLst/>
          </a:prstGeom>
        </p:spPr>
        <p:txBody>
          <a:bodyPr lIns="0" tIns="0" rIns="0" bIns="0" rtlCol="0" anchor="t">
            <a:spAutoFit/>
          </a:bodyPr>
          <a:lstStyle/>
          <a:p>
            <a:pPr algn="ctr">
              <a:lnSpc>
                <a:spcPts val="1500"/>
              </a:lnSpc>
            </a:pPr>
            <a:r>
              <a:rPr lang="en-US" sz="1300">
                <a:solidFill>
                  <a:srgbClr val="232D37"/>
                </a:solidFill>
                <a:latin typeface="Aptos"/>
                <a:ea typeface="Aptos"/>
                <a:cs typeface="Aptos"/>
                <a:sym typeface="Aptos"/>
              </a:rPr>
              <a:t>RAG • Embeddings  LLM</a:t>
            </a:r>
          </a:p>
          <a:p>
            <a:pPr algn="ctr">
              <a:lnSpc>
                <a:spcPts val="1500"/>
              </a:lnSpc>
            </a:pPr>
            <a:r>
              <a:rPr lang="en-US" sz="1300">
                <a:solidFill>
                  <a:srgbClr val="232D37"/>
                </a:solidFill>
                <a:latin typeface="Aptos"/>
                <a:ea typeface="Aptos"/>
                <a:cs typeface="Aptos"/>
                <a:sym typeface="Aptos"/>
              </a:rPr>
              <a:t>Competency Extraction + Gap Scoring</a:t>
            </a:r>
          </a:p>
        </p:txBody>
      </p:sp>
      <p:sp>
        <p:nvSpPr>
          <p:cNvPr id="56" name="TextBox 56"/>
          <p:cNvSpPr txBox="1"/>
          <p:nvPr/>
        </p:nvSpPr>
        <p:spPr>
          <a:xfrm>
            <a:off x="7322364" y="2626814"/>
            <a:ext cx="1774799" cy="287836"/>
          </a:xfrm>
          <a:prstGeom prst="rect">
            <a:avLst/>
          </a:prstGeom>
        </p:spPr>
        <p:txBody>
          <a:bodyPr wrap="square" lIns="0" tIns="0" rIns="0" bIns="0" rtlCol="0" anchor="t">
            <a:spAutoFit/>
          </a:bodyPr>
          <a:lstStyle/>
          <a:p>
            <a:pPr algn="ctr">
              <a:lnSpc>
                <a:spcPts val="2250"/>
              </a:lnSpc>
            </a:pPr>
            <a:r>
              <a:rPr lang="en-US" sz="1500" b="1" u="sng">
                <a:solidFill>
                  <a:srgbClr val="234E7D"/>
                </a:solidFill>
                <a:latin typeface="Aptos Bold"/>
                <a:ea typeface="Aptos Bold"/>
                <a:cs typeface="Aptos Bold"/>
                <a:sym typeface="Aptos Bold"/>
              </a:rPr>
              <a:t>Personalization</a:t>
            </a:r>
          </a:p>
        </p:txBody>
      </p:sp>
      <p:sp>
        <p:nvSpPr>
          <p:cNvPr id="57" name="TextBox 57"/>
          <p:cNvSpPr txBox="1"/>
          <p:nvPr/>
        </p:nvSpPr>
        <p:spPr>
          <a:xfrm>
            <a:off x="7393354" y="3310128"/>
            <a:ext cx="1626057" cy="923330"/>
          </a:xfrm>
          <a:prstGeom prst="rect">
            <a:avLst/>
          </a:prstGeom>
        </p:spPr>
        <p:txBody>
          <a:bodyPr lIns="0" tIns="0" rIns="0" bIns="0" rtlCol="0" anchor="t">
            <a:spAutoFit/>
          </a:bodyPr>
          <a:lstStyle/>
          <a:p>
            <a:pPr algn="ctr">
              <a:lnSpc>
                <a:spcPts val="1800"/>
              </a:lnSpc>
            </a:pPr>
            <a:r>
              <a:rPr lang="en-US" sz="1500" dirty="0">
                <a:solidFill>
                  <a:srgbClr val="232D37"/>
                </a:solidFill>
                <a:latin typeface="Aptos"/>
                <a:ea typeface="Aptos"/>
                <a:cs typeface="Aptos"/>
                <a:sym typeface="Aptos"/>
              </a:rPr>
              <a:t>Gap → Learning Path</a:t>
            </a:r>
          </a:p>
          <a:p>
            <a:pPr algn="ctr">
              <a:lnSpc>
                <a:spcPts val="1800"/>
              </a:lnSpc>
            </a:pPr>
            <a:r>
              <a:rPr lang="en-US" sz="1500" dirty="0">
                <a:solidFill>
                  <a:srgbClr val="232D37"/>
                </a:solidFill>
                <a:latin typeface="Aptos"/>
                <a:ea typeface="Aptos"/>
                <a:cs typeface="Aptos"/>
                <a:sym typeface="Aptos"/>
              </a:rPr>
              <a:t>Recommend iGOT Resources</a:t>
            </a:r>
          </a:p>
        </p:txBody>
      </p:sp>
      <p:sp>
        <p:nvSpPr>
          <p:cNvPr id="58" name="Arrow 58"/>
          <p:cNvSpPr/>
          <p:nvPr/>
        </p:nvSpPr>
        <p:spPr>
          <a:xfrm>
            <a:off x="9217252" y="3328575"/>
            <a:ext cx="187733" cy="260000"/>
          </a:xfrm>
          <a:prstGeom prst="rightArrow">
            <a:avLst>
              <a:gd name="adj1" fmla="val 60000"/>
              <a:gd name="adj2" fmla="val 60000"/>
            </a:avLst>
          </a:prstGeom>
          <a:solidFill>
            <a:srgbClr val="586570"/>
          </a:solidFill>
          <a:ln>
            <a:noFill/>
          </a:ln>
        </p:spPr>
        <p:txBody>
          <a:bodyPr/>
          <a:lstStyle/>
          <a:p>
            <a:endParaRPr lang="en-US"/>
          </a:p>
        </p:txBody>
      </p:sp>
      <p:sp>
        <p:nvSpPr>
          <p:cNvPr id="59" name="TextBox 59"/>
          <p:cNvSpPr txBox="1"/>
          <p:nvPr/>
        </p:nvSpPr>
        <p:spPr>
          <a:xfrm>
            <a:off x="9601365" y="2628900"/>
            <a:ext cx="1626057" cy="582788"/>
          </a:xfrm>
          <a:prstGeom prst="rect">
            <a:avLst/>
          </a:prstGeom>
        </p:spPr>
        <p:txBody>
          <a:bodyPr lIns="0" tIns="0" rIns="0" bIns="0" rtlCol="0" anchor="t">
            <a:spAutoFit/>
          </a:bodyPr>
          <a:lstStyle/>
          <a:p>
            <a:pPr algn="ctr">
              <a:lnSpc>
                <a:spcPts val="2250"/>
              </a:lnSpc>
            </a:pPr>
            <a:r>
              <a:rPr lang="en-US" sz="1875" b="1" u="sng">
                <a:solidFill>
                  <a:srgbClr val="F28C28"/>
                </a:solidFill>
                <a:latin typeface="Aptos Bold"/>
                <a:ea typeface="Aptos Bold"/>
                <a:cs typeface="Aptos Bold"/>
                <a:sym typeface="Aptos Bold"/>
              </a:rPr>
              <a:t>Assessment</a:t>
            </a:r>
            <a:r>
              <a:rPr lang="en-US" sz="1875" b="1">
                <a:solidFill>
                  <a:srgbClr val="F28C28"/>
                </a:solidFill>
                <a:latin typeface="Aptos Bold"/>
                <a:ea typeface="Aptos Bold"/>
                <a:cs typeface="Aptos Bold"/>
                <a:sym typeface="Aptos Bold"/>
              </a:rPr>
              <a:t> </a:t>
            </a:r>
            <a:r>
              <a:rPr lang="en-US" sz="1875" b="1" u="sng">
                <a:solidFill>
                  <a:srgbClr val="F28C28"/>
                </a:solidFill>
                <a:latin typeface="Aptos Bold"/>
                <a:ea typeface="Aptos Bold"/>
                <a:cs typeface="Aptos Bold"/>
                <a:sym typeface="Aptos Bold"/>
              </a:rPr>
              <a:t>Loop</a:t>
            </a:r>
          </a:p>
        </p:txBody>
      </p:sp>
      <p:sp>
        <p:nvSpPr>
          <p:cNvPr id="60" name="TextBox 60"/>
          <p:cNvSpPr txBox="1"/>
          <p:nvPr/>
        </p:nvSpPr>
        <p:spPr>
          <a:xfrm>
            <a:off x="9602828" y="3310128"/>
            <a:ext cx="1626057" cy="685800"/>
          </a:xfrm>
          <a:prstGeom prst="rect">
            <a:avLst/>
          </a:prstGeom>
        </p:spPr>
        <p:txBody>
          <a:bodyPr lIns="0" tIns="0" rIns="0" bIns="0" rtlCol="0" anchor="t">
            <a:spAutoFit/>
          </a:bodyPr>
          <a:lstStyle/>
          <a:p>
            <a:pPr algn="ctr">
              <a:lnSpc>
                <a:spcPts val="1800"/>
              </a:lnSpc>
            </a:pPr>
            <a:r>
              <a:rPr lang="en-US" sz="1500">
                <a:solidFill>
                  <a:srgbClr val="232D37"/>
                </a:solidFill>
                <a:latin typeface="Aptos"/>
                <a:ea typeface="Aptos"/>
                <a:cs typeface="Aptos"/>
                <a:sym typeface="Aptos"/>
              </a:rPr>
              <a:t>AI-generated MCQs</a:t>
            </a:r>
          </a:p>
          <a:p>
            <a:pPr algn="ctr">
              <a:lnSpc>
                <a:spcPts val="1800"/>
              </a:lnSpc>
            </a:pPr>
            <a:r>
              <a:rPr lang="en-US" sz="1500">
                <a:solidFill>
                  <a:srgbClr val="232D37"/>
                </a:solidFill>
                <a:latin typeface="Aptos"/>
                <a:ea typeface="Aptos"/>
                <a:cs typeface="Aptos"/>
                <a:sym typeface="Aptos"/>
              </a:rPr>
              <a:t>Score → Update Competency Profile</a:t>
            </a:r>
          </a:p>
        </p:txBody>
      </p:sp>
      <p:sp>
        <p:nvSpPr>
          <p:cNvPr id="61" name="TextBox 61"/>
          <p:cNvSpPr txBox="1"/>
          <p:nvPr/>
        </p:nvSpPr>
        <p:spPr>
          <a:xfrm>
            <a:off x="660958" y="4946523"/>
            <a:ext cx="4996587" cy="323850"/>
          </a:xfrm>
          <a:prstGeom prst="rect">
            <a:avLst/>
          </a:prstGeom>
        </p:spPr>
        <p:txBody>
          <a:bodyPr lIns="0" tIns="0" rIns="0" bIns="0" rtlCol="0" anchor="t">
            <a:spAutoFit/>
          </a:bodyPr>
          <a:lstStyle/>
          <a:p>
            <a:pPr algn="l">
              <a:lnSpc>
                <a:spcPts val="2520"/>
              </a:lnSpc>
            </a:pPr>
            <a:r>
              <a:rPr lang="en-US" sz="2100" b="1" u="sng">
                <a:solidFill>
                  <a:srgbClr val="234E7D"/>
                </a:solidFill>
                <a:latin typeface="Aptos Bold"/>
                <a:ea typeface="Aptos Bold"/>
                <a:cs typeface="Aptos Bold"/>
                <a:sym typeface="Aptos Bold"/>
              </a:rPr>
              <a:t>TECHNOLOGY</a:t>
            </a:r>
            <a:r>
              <a:rPr lang="en-US" sz="2100" b="1">
                <a:solidFill>
                  <a:srgbClr val="234E7D"/>
                </a:solidFill>
                <a:latin typeface="Aptos Bold"/>
                <a:ea typeface="Aptos Bold"/>
                <a:cs typeface="Aptos Bold"/>
                <a:sym typeface="Aptos Bold"/>
              </a:rPr>
              <a:t> </a:t>
            </a:r>
            <a:r>
              <a:rPr lang="en-US" sz="2100" b="1" u="sng">
                <a:solidFill>
                  <a:srgbClr val="234E7D"/>
                </a:solidFill>
                <a:latin typeface="Aptos Bold"/>
                <a:ea typeface="Aptos Bold"/>
                <a:cs typeface="Aptos Bold"/>
                <a:sym typeface="Aptos Bold"/>
              </a:rPr>
              <a:t>STACK</a:t>
            </a:r>
          </a:p>
        </p:txBody>
      </p:sp>
      <p:sp>
        <p:nvSpPr>
          <p:cNvPr id="62" name="TextBox 62"/>
          <p:cNvSpPr txBox="1"/>
          <p:nvPr/>
        </p:nvSpPr>
        <p:spPr>
          <a:xfrm>
            <a:off x="808257" y="5641848"/>
            <a:ext cx="967547" cy="238125"/>
          </a:xfrm>
          <a:prstGeom prst="rect">
            <a:avLst/>
          </a:prstGeom>
        </p:spPr>
        <p:txBody>
          <a:bodyPr lIns="0" tIns="0" rIns="0" bIns="0" rtlCol="0" anchor="t">
            <a:spAutoFit/>
          </a:bodyPr>
          <a:lstStyle/>
          <a:p>
            <a:pPr algn="l">
              <a:lnSpc>
                <a:spcPts val="1889"/>
              </a:lnSpc>
            </a:pPr>
            <a:r>
              <a:rPr lang="en-US" sz="1575" b="1" u="sng">
                <a:solidFill>
                  <a:srgbClr val="234E7D"/>
                </a:solidFill>
                <a:latin typeface="Aptos Bold"/>
                <a:ea typeface="Aptos Bold"/>
                <a:cs typeface="Aptos Bold"/>
                <a:sym typeface="Aptos Bold"/>
              </a:rPr>
              <a:t>AI/ML</a:t>
            </a:r>
          </a:p>
        </p:txBody>
      </p:sp>
      <p:sp>
        <p:nvSpPr>
          <p:cNvPr id="63" name="TextBox 63"/>
          <p:cNvSpPr txBox="1"/>
          <p:nvPr/>
        </p:nvSpPr>
        <p:spPr>
          <a:xfrm>
            <a:off x="1676400" y="5641848"/>
            <a:ext cx="3764531" cy="436017"/>
          </a:xfrm>
          <a:prstGeom prst="rect">
            <a:avLst/>
          </a:prstGeom>
        </p:spPr>
        <p:txBody>
          <a:bodyPr wrap="square" lIns="0" tIns="0" rIns="0" bIns="0" rtlCol="0" anchor="t">
            <a:spAutoFit/>
          </a:bodyPr>
          <a:lstStyle/>
          <a:p>
            <a:pPr algn="l">
              <a:lnSpc>
                <a:spcPts val="1709"/>
              </a:lnSpc>
            </a:pPr>
            <a:r>
              <a:rPr lang="en-US" sz="1425" dirty="0">
                <a:solidFill>
                  <a:srgbClr val="232D37"/>
                </a:solidFill>
                <a:latin typeface="Aptos"/>
                <a:ea typeface="Aptos"/>
                <a:cs typeface="Aptos"/>
                <a:sym typeface="Aptos"/>
              </a:rPr>
              <a:t>LLM + Embeddings • Competency Classifier  Recommendation Model</a:t>
            </a:r>
          </a:p>
        </p:txBody>
      </p:sp>
      <p:sp>
        <p:nvSpPr>
          <p:cNvPr id="64" name="TextBox 64"/>
          <p:cNvSpPr txBox="1"/>
          <p:nvPr/>
        </p:nvSpPr>
        <p:spPr>
          <a:xfrm>
            <a:off x="700157" y="6409944"/>
            <a:ext cx="1075648" cy="238655"/>
          </a:xfrm>
          <a:prstGeom prst="rect">
            <a:avLst/>
          </a:prstGeom>
        </p:spPr>
        <p:txBody>
          <a:bodyPr wrap="square" lIns="0" tIns="0" rIns="0" bIns="0" rtlCol="0" anchor="t">
            <a:spAutoFit/>
          </a:bodyPr>
          <a:lstStyle/>
          <a:p>
            <a:pPr algn="l">
              <a:lnSpc>
                <a:spcPts val="1889"/>
              </a:lnSpc>
            </a:pPr>
            <a:r>
              <a:rPr lang="en-US" sz="1575" b="1" u="sng">
                <a:solidFill>
                  <a:srgbClr val="234E7D"/>
                </a:solidFill>
                <a:latin typeface="Aptos Bold"/>
                <a:ea typeface="Aptos Bold"/>
                <a:cs typeface="Aptos Bold"/>
                <a:sym typeface="Aptos Bold"/>
              </a:rPr>
              <a:t>Knowledge</a:t>
            </a:r>
          </a:p>
        </p:txBody>
      </p:sp>
      <p:sp>
        <p:nvSpPr>
          <p:cNvPr id="65" name="TextBox 65"/>
          <p:cNvSpPr txBox="1"/>
          <p:nvPr/>
        </p:nvSpPr>
        <p:spPr>
          <a:xfrm>
            <a:off x="1830680" y="6409944"/>
            <a:ext cx="3610251" cy="436017"/>
          </a:xfrm>
          <a:prstGeom prst="rect">
            <a:avLst/>
          </a:prstGeom>
        </p:spPr>
        <p:txBody>
          <a:bodyPr lIns="0" tIns="0" rIns="0" bIns="0" rtlCol="0" anchor="t">
            <a:spAutoFit/>
          </a:bodyPr>
          <a:lstStyle/>
          <a:p>
            <a:pPr algn="l">
              <a:lnSpc>
                <a:spcPts val="1709"/>
              </a:lnSpc>
            </a:pPr>
            <a:r>
              <a:rPr lang="en-US" sz="1425" dirty="0">
                <a:solidFill>
                  <a:srgbClr val="232D37"/>
                </a:solidFill>
                <a:latin typeface="Aptos"/>
                <a:ea typeface="Aptos"/>
                <a:cs typeface="Aptos"/>
                <a:sym typeface="Aptos"/>
              </a:rPr>
              <a:t>RAG pipeline • vector database • Metadata/competency store</a:t>
            </a:r>
          </a:p>
        </p:txBody>
      </p:sp>
      <p:sp>
        <p:nvSpPr>
          <p:cNvPr id="66" name="TextBox 66"/>
          <p:cNvSpPr txBox="1"/>
          <p:nvPr/>
        </p:nvSpPr>
        <p:spPr>
          <a:xfrm>
            <a:off x="700157" y="7178040"/>
            <a:ext cx="1075648" cy="238655"/>
          </a:xfrm>
          <a:prstGeom prst="rect">
            <a:avLst/>
          </a:prstGeom>
        </p:spPr>
        <p:txBody>
          <a:bodyPr wrap="square" lIns="0" tIns="0" rIns="0" bIns="0" rtlCol="0" anchor="t">
            <a:spAutoFit/>
          </a:bodyPr>
          <a:lstStyle/>
          <a:p>
            <a:pPr algn="l">
              <a:lnSpc>
                <a:spcPts val="1889"/>
              </a:lnSpc>
            </a:pPr>
            <a:r>
              <a:rPr lang="en-US" sz="1575" b="1" u="sng">
                <a:solidFill>
                  <a:srgbClr val="234E7D"/>
                </a:solidFill>
                <a:latin typeface="Aptos Bold"/>
                <a:ea typeface="Aptos Bold"/>
                <a:cs typeface="Aptos Bold"/>
                <a:sym typeface="Aptos Bold"/>
              </a:rPr>
              <a:t>Application</a:t>
            </a:r>
          </a:p>
        </p:txBody>
      </p:sp>
      <p:sp>
        <p:nvSpPr>
          <p:cNvPr id="67" name="TextBox 67"/>
          <p:cNvSpPr txBox="1"/>
          <p:nvPr/>
        </p:nvSpPr>
        <p:spPr>
          <a:xfrm>
            <a:off x="1830680" y="7178040"/>
            <a:ext cx="3610251" cy="419100"/>
          </a:xfrm>
          <a:prstGeom prst="rect">
            <a:avLst/>
          </a:prstGeom>
        </p:spPr>
        <p:txBody>
          <a:bodyPr lIns="0" tIns="0" rIns="0" bIns="0" rtlCol="0" anchor="t">
            <a:spAutoFit/>
          </a:bodyPr>
          <a:lstStyle/>
          <a:p>
            <a:pPr algn="l">
              <a:lnSpc>
                <a:spcPts val="1709"/>
              </a:lnSpc>
            </a:pPr>
            <a:r>
              <a:rPr lang="en-US" sz="1425" dirty="0">
                <a:solidFill>
                  <a:srgbClr val="232D37"/>
                </a:solidFill>
                <a:latin typeface="Aptos"/>
                <a:ea typeface="Aptos"/>
                <a:cs typeface="Aptos"/>
                <a:sym typeface="Aptos"/>
              </a:rPr>
              <a:t>Python/</a:t>
            </a:r>
            <a:r>
              <a:rPr lang="en-US" sz="1425" dirty="0" err="1">
                <a:solidFill>
                  <a:srgbClr val="232D37"/>
                </a:solidFill>
                <a:latin typeface="Aptos"/>
                <a:ea typeface="Aptos"/>
                <a:cs typeface="Aptos"/>
                <a:sym typeface="Aptos"/>
              </a:rPr>
              <a:t>FastAPI</a:t>
            </a:r>
            <a:r>
              <a:rPr lang="en-US" sz="1425" dirty="0">
                <a:solidFill>
                  <a:srgbClr val="232D37"/>
                </a:solidFill>
                <a:latin typeface="Aptos"/>
                <a:ea typeface="Aptos"/>
                <a:cs typeface="Aptos"/>
                <a:sym typeface="Aptos"/>
              </a:rPr>
              <a:t> • React/Angular-style web UI • REST APIs</a:t>
            </a:r>
          </a:p>
        </p:txBody>
      </p:sp>
      <p:sp>
        <p:nvSpPr>
          <p:cNvPr id="68" name="TextBox 68"/>
          <p:cNvSpPr txBox="1"/>
          <p:nvPr/>
        </p:nvSpPr>
        <p:spPr>
          <a:xfrm>
            <a:off x="700157" y="7946136"/>
            <a:ext cx="1075648" cy="238655"/>
          </a:xfrm>
          <a:prstGeom prst="rect">
            <a:avLst/>
          </a:prstGeom>
        </p:spPr>
        <p:txBody>
          <a:bodyPr wrap="square" lIns="0" tIns="0" rIns="0" bIns="0" rtlCol="0" anchor="t">
            <a:spAutoFit/>
          </a:bodyPr>
          <a:lstStyle/>
          <a:p>
            <a:pPr algn="l">
              <a:lnSpc>
                <a:spcPts val="1889"/>
              </a:lnSpc>
            </a:pPr>
            <a:r>
              <a:rPr lang="en-US" sz="1575" b="1" u="sng">
                <a:solidFill>
                  <a:srgbClr val="234E7D"/>
                </a:solidFill>
                <a:latin typeface="Aptos Bold"/>
                <a:ea typeface="Aptos Bold"/>
                <a:cs typeface="Aptos Bold"/>
                <a:sym typeface="Aptos Bold"/>
              </a:rPr>
              <a:t>Integration</a:t>
            </a:r>
          </a:p>
        </p:txBody>
      </p:sp>
      <p:sp>
        <p:nvSpPr>
          <p:cNvPr id="69" name="TextBox 69"/>
          <p:cNvSpPr txBox="1"/>
          <p:nvPr/>
        </p:nvSpPr>
        <p:spPr>
          <a:xfrm>
            <a:off x="1830680" y="7946136"/>
            <a:ext cx="3610251" cy="419100"/>
          </a:xfrm>
          <a:prstGeom prst="rect">
            <a:avLst/>
          </a:prstGeom>
        </p:spPr>
        <p:txBody>
          <a:bodyPr lIns="0" tIns="0" rIns="0" bIns="0" rtlCol="0" anchor="t">
            <a:spAutoFit/>
          </a:bodyPr>
          <a:lstStyle/>
          <a:p>
            <a:pPr algn="l">
              <a:lnSpc>
                <a:spcPts val="1709"/>
              </a:lnSpc>
            </a:pPr>
            <a:r>
              <a:rPr lang="en-US" sz="1425" dirty="0">
                <a:solidFill>
                  <a:srgbClr val="232D37"/>
                </a:solidFill>
                <a:latin typeface="Aptos"/>
                <a:ea typeface="Aptos"/>
                <a:cs typeface="Aptos"/>
                <a:sym typeface="Aptos"/>
              </a:rPr>
              <a:t>iGOT connector layer • approved APIs/data exchange • SSO where available</a:t>
            </a:r>
          </a:p>
        </p:txBody>
      </p:sp>
      <p:sp>
        <p:nvSpPr>
          <p:cNvPr id="70" name="TextBox 70"/>
          <p:cNvSpPr txBox="1"/>
          <p:nvPr/>
        </p:nvSpPr>
        <p:spPr>
          <a:xfrm>
            <a:off x="808257" y="8714232"/>
            <a:ext cx="967547" cy="238125"/>
          </a:xfrm>
          <a:prstGeom prst="rect">
            <a:avLst/>
          </a:prstGeom>
        </p:spPr>
        <p:txBody>
          <a:bodyPr lIns="0" tIns="0" rIns="0" bIns="0" rtlCol="0" anchor="t">
            <a:spAutoFit/>
          </a:bodyPr>
          <a:lstStyle/>
          <a:p>
            <a:pPr algn="l">
              <a:lnSpc>
                <a:spcPts val="1889"/>
              </a:lnSpc>
            </a:pPr>
            <a:r>
              <a:rPr lang="en-US" sz="1575" b="1" u="sng">
                <a:solidFill>
                  <a:srgbClr val="234E7D"/>
                </a:solidFill>
                <a:latin typeface="Aptos Bold"/>
                <a:ea typeface="Aptos Bold"/>
                <a:cs typeface="Aptos Bold"/>
                <a:sym typeface="Aptos Bold"/>
              </a:rPr>
              <a:t>Security</a:t>
            </a:r>
          </a:p>
        </p:txBody>
      </p:sp>
      <p:sp>
        <p:nvSpPr>
          <p:cNvPr id="71" name="TextBox 71"/>
          <p:cNvSpPr txBox="1"/>
          <p:nvPr/>
        </p:nvSpPr>
        <p:spPr>
          <a:xfrm>
            <a:off x="1830680" y="8714232"/>
            <a:ext cx="3610251" cy="419100"/>
          </a:xfrm>
          <a:prstGeom prst="rect">
            <a:avLst/>
          </a:prstGeom>
        </p:spPr>
        <p:txBody>
          <a:bodyPr lIns="0" tIns="0" rIns="0" bIns="0" rtlCol="0" anchor="t">
            <a:spAutoFit/>
          </a:bodyPr>
          <a:lstStyle/>
          <a:p>
            <a:pPr algn="l">
              <a:lnSpc>
                <a:spcPts val="1709"/>
              </a:lnSpc>
            </a:pPr>
            <a:r>
              <a:rPr lang="en-US" sz="1425">
                <a:solidFill>
                  <a:srgbClr val="232D37"/>
                </a:solidFill>
                <a:latin typeface="Aptos"/>
                <a:ea typeface="Aptos"/>
                <a:cs typeface="Aptos"/>
                <a:sym typeface="Aptos"/>
              </a:rPr>
              <a:t>RBAC • encryption • audit logs • PII minimization • human review</a:t>
            </a:r>
          </a:p>
        </p:txBody>
      </p:sp>
      <p:sp>
        <p:nvSpPr>
          <p:cNvPr id="72" name="TextBox 72"/>
          <p:cNvSpPr txBox="1"/>
          <p:nvPr/>
        </p:nvSpPr>
        <p:spPr>
          <a:xfrm>
            <a:off x="6033012" y="4946523"/>
            <a:ext cx="4996587" cy="323850"/>
          </a:xfrm>
          <a:prstGeom prst="rect">
            <a:avLst/>
          </a:prstGeom>
        </p:spPr>
        <p:txBody>
          <a:bodyPr lIns="0" tIns="0" rIns="0" bIns="0" rtlCol="0" anchor="t">
            <a:spAutoFit/>
          </a:bodyPr>
          <a:lstStyle/>
          <a:p>
            <a:pPr algn="l">
              <a:lnSpc>
                <a:spcPts val="2520"/>
              </a:lnSpc>
            </a:pPr>
            <a:r>
              <a:rPr lang="en-US" sz="2100" b="1" u="sng">
                <a:solidFill>
                  <a:srgbClr val="234E7D"/>
                </a:solidFill>
                <a:latin typeface="Aptos Bold"/>
                <a:ea typeface="Aptos Bold"/>
                <a:cs typeface="Aptos Bold"/>
                <a:sym typeface="Aptos Bold"/>
              </a:rPr>
              <a:t>IMPLEMENTATION METHOD</a:t>
            </a:r>
          </a:p>
        </p:txBody>
      </p:sp>
      <p:sp>
        <p:nvSpPr>
          <p:cNvPr id="73" name="TextBox 73"/>
          <p:cNvSpPr txBox="1"/>
          <p:nvPr/>
        </p:nvSpPr>
        <p:spPr>
          <a:xfrm>
            <a:off x="6180310" y="5669280"/>
            <a:ext cx="837578" cy="238125"/>
          </a:xfrm>
          <a:prstGeom prst="rect">
            <a:avLst/>
          </a:prstGeom>
        </p:spPr>
        <p:txBody>
          <a:bodyPr lIns="0" tIns="0" rIns="0" bIns="0" rtlCol="0" anchor="t">
            <a:spAutoFit/>
          </a:bodyPr>
          <a:lstStyle/>
          <a:p>
            <a:pPr algn="l">
              <a:lnSpc>
                <a:spcPts val="1889"/>
              </a:lnSpc>
            </a:pPr>
            <a:r>
              <a:rPr lang="en-US" sz="1575" b="1" u="sng">
                <a:solidFill>
                  <a:srgbClr val="1C7F6E"/>
                </a:solidFill>
                <a:latin typeface="Aptos Bold"/>
                <a:ea typeface="Aptos Bold"/>
                <a:cs typeface="Aptos Bold"/>
                <a:sym typeface="Aptos Bold"/>
              </a:rPr>
              <a:t>MVP</a:t>
            </a:r>
          </a:p>
        </p:txBody>
      </p:sp>
      <p:sp>
        <p:nvSpPr>
          <p:cNvPr id="74" name="TextBox 74"/>
          <p:cNvSpPr txBox="1"/>
          <p:nvPr/>
        </p:nvSpPr>
        <p:spPr>
          <a:xfrm>
            <a:off x="7159410" y="5641848"/>
            <a:ext cx="3653574" cy="438150"/>
          </a:xfrm>
          <a:prstGeom prst="rect">
            <a:avLst/>
          </a:prstGeom>
        </p:spPr>
        <p:txBody>
          <a:bodyPr lIns="0" tIns="0" rIns="0" bIns="0" rtlCol="0" anchor="t">
            <a:spAutoFit/>
          </a:bodyPr>
          <a:lstStyle/>
          <a:p>
            <a:pPr algn="l">
              <a:lnSpc>
                <a:spcPts val="1744"/>
              </a:lnSpc>
            </a:pPr>
            <a:r>
              <a:rPr lang="en-US" sz="1453">
                <a:solidFill>
                  <a:srgbClr val="232D37"/>
                </a:solidFill>
                <a:latin typeface="Aptos"/>
                <a:ea typeface="Aptos"/>
                <a:cs typeface="Aptos"/>
                <a:sym typeface="Aptos"/>
              </a:rPr>
              <a:t>Upload → RAG → MCQ generation → competency gap dashboard</a:t>
            </a:r>
          </a:p>
        </p:txBody>
      </p:sp>
      <p:sp>
        <p:nvSpPr>
          <p:cNvPr id="75" name="TextBox 75"/>
          <p:cNvSpPr txBox="1"/>
          <p:nvPr/>
        </p:nvSpPr>
        <p:spPr>
          <a:xfrm>
            <a:off x="6180310" y="6656832"/>
            <a:ext cx="837578" cy="238125"/>
          </a:xfrm>
          <a:prstGeom prst="rect">
            <a:avLst/>
          </a:prstGeom>
        </p:spPr>
        <p:txBody>
          <a:bodyPr lIns="0" tIns="0" rIns="0" bIns="0" rtlCol="0" anchor="t">
            <a:spAutoFit/>
          </a:bodyPr>
          <a:lstStyle/>
          <a:p>
            <a:pPr algn="l">
              <a:lnSpc>
                <a:spcPts val="1889"/>
              </a:lnSpc>
            </a:pPr>
            <a:r>
              <a:rPr lang="en-US" sz="1575" b="1" u="sng">
                <a:solidFill>
                  <a:srgbClr val="1C7F6E"/>
                </a:solidFill>
                <a:latin typeface="Aptos Bold"/>
                <a:ea typeface="Aptos Bold"/>
                <a:cs typeface="Aptos Bold"/>
                <a:sym typeface="Aptos Bold"/>
              </a:rPr>
              <a:t>Pilot</a:t>
            </a:r>
          </a:p>
        </p:txBody>
      </p:sp>
      <p:sp>
        <p:nvSpPr>
          <p:cNvPr id="76" name="TextBox 76"/>
          <p:cNvSpPr txBox="1"/>
          <p:nvPr/>
        </p:nvSpPr>
        <p:spPr>
          <a:xfrm>
            <a:off x="7159410" y="6629400"/>
            <a:ext cx="3653574" cy="438150"/>
          </a:xfrm>
          <a:prstGeom prst="rect">
            <a:avLst/>
          </a:prstGeom>
        </p:spPr>
        <p:txBody>
          <a:bodyPr lIns="0" tIns="0" rIns="0" bIns="0" rtlCol="0" anchor="t">
            <a:spAutoFit/>
          </a:bodyPr>
          <a:lstStyle/>
          <a:p>
            <a:pPr algn="l">
              <a:lnSpc>
                <a:spcPts val="1744"/>
              </a:lnSpc>
            </a:pPr>
            <a:r>
              <a:rPr lang="en-US" sz="1453">
                <a:solidFill>
                  <a:srgbClr val="232D37"/>
                </a:solidFill>
                <a:latin typeface="Aptos"/>
                <a:ea typeface="Aptos"/>
                <a:cs typeface="Aptos"/>
                <a:sym typeface="Aptos"/>
              </a:rPr>
              <a:t>Map selected statistical roles/competencies; validate recommendations</a:t>
            </a:r>
          </a:p>
        </p:txBody>
      </p:sp>
      <p:sp>
        <p:nvSpPr>
          <p:cNvPr id="77" name="TextBox 77"/>
          <p:cNvSpPr txBox="1"/>
          <p:nvPr/>
        </p:nvSpPr>
        <p:spPr>
          <a:xfrm>
            <a:off x="6180310" y="7644384"/>
            <a:ext cx="837578" cy="238125"/>
          </a:xfrm>
          <a:prstGeom prst="rect">
            <a:avLst/>
          </a:prstGeom>
        </p:spPr>
        <p:txBody>
          <a:bodyPr lIns="0" tIns="0" rIns="0" bIns="0" rtlCol="0" anchor="t">
            <a:spAutoFit/>
          </a:bodyPr>
          <a:lstStyle/>
          <a:p>
            <a:pPr algn="l">
              <a:lnSpc>
                <a:spcPts val="1889"/>
              </a:lnSpc>
            </a:pPr>
            <a:r>
              <a:rPr lang="en-US" sz="1575" b="1" u="sng">
                <a:solidFill>
                  <a:srgbClr val="1C7F6E"/>
                </a:solidFill>
                <a:latin typeface="Aptos Bold"/>
                <a:ea typeface="Aptos Bold"/>
                <a:cs typeface="Aptos Bold"/>
                <a:sym typeface="Aptos Bold"/>
              </a:rPr>
              <a:t>Integrate</a:t>
            </a:r>
          </a:p>
        </p:txBody>
      </p:sp>
      <p:sp>
        <p:nvSpPr>
          <p:cNvPr id="78" name="TextBox 78"/>
          <p:cNvSpPr txBox="1"/>
          <p:nvPr/>
        </p:nvSpPr>
        <p:spPr>
          <a:xfrm>
            <a:off x="7159410" y="7616952"/>
            <a:ext cx="3653574" cy="438150"/>
          </a:xfrm>
          <a:prstGeom prst="rect">
            <a:avLst/>
          </a:prstGeom>
        </p:spPr>
        <p:txBody>
          <a:bodyPr lIns="0" tIns="0" rIns="0" bIns="0" rtlCol="0" anchor="t">
            <a:spAutoFit/>
          </a:bodyPr>
          <a:lstStyle/>
          <a:p>
            <a:pPr algn="l">
              <a:lnSpc>
                <a:spcPts val="1744"/>
              </a:lnSpc>
            </a:pPr>
            <a:r>
              <a:rPr lang="en-US" sz="1453" dirty="0">
                <a:solidFill>
                  <a:srgbClr val="232D37"/>
                </a:solidFill>
                <a:latin typeface="Aptos"/>
                <a:ea typeface="Aptos"/>
                <a:cs typeface="Aptos"/>
                <a:sym typeface="Aptos"/>
              </a:rPr>
              <a:t>Connect to iGOT learning resources through approved integration mechanisms</a:t>
            </a:r>
          </a:p>
        </p:txBody>
      </p:sp>
      <p:sp>
        <p:nvSpPr>
          <p:cNvPr id="79" name="TextBox 79"/>
          <p:cNvSpPr txBox="1"/>
          <p:nvPr/>
        </p:nvSpPr>
        <p:spPr>
          <a:xfrm>
            <a:off x="6180310" y="8631936"/>
            <a:ext cx="837578" cy="238125"/>
          </a:xfrm>
          <a:prstGeom prst="rect">
            <a:avLst/>
          </a:prstGeom>
        </p:spPr>
        <p:txBody>
          <a:bodyPr lIns="0" tIns="0" rIns="0" bIns="0" rtlCol="0" anchor="t">
            <a:spAutoFit/>
          </a:bodyPr>
          <a:lstStyle/>
          <a:p>
            <a:pPr algn="l">
              <a:lnSpc>
                <a:spcPts val="1889"/>
              </a:lnSpc>
            </a:pPr>
            <a:r>
              <a:rPr lang="en-US" sz="1575" b="1" u="sng">
                <a:solidFill>
                  <a:srgbClr val="1C7F6E"/>
                </a:solidFill>
                <a:latin typeface="Aptos Bold"/>
                <a:ea typeface="Aptos Bold"/>
                <a:cs typeface="Aptos Bold"/>
                <a:sym typeface="Aptos Bold"/>
              </a:rPr>
              <a:t>Scale</a:t>
            </a:r>
          </a:p>
        </p:txBody>
      </p:sp>
      <p:sp>
        <p:nvSpPr>
          <p:cNvPr id="80" name="TextBox 80"/>
          <p:cNvSpPr txBox="1"/>
          <p:nvPr/>
        </p:nvSpPr>
        <p:spPr>
          <a:xfrm>
            <a:off x="7159410" y="8604504"/>
            <a:ext cx="3653574" cy="438150"/>
          </a:xfrm>
          <a:prstGeom prst="rect">
            <a:avLst/>
          </a:prstGeom>
        </p:spPr>
        <p:txBody>
          <a:bodyPr lIns="0" tIns="0" rIns="0" bIns="0" rtlCol="0" anchor="t">
            <a:spAutoFit/>
          </a:bodyPr>
          <a:lstStyle/>
          <a:p>
            <a:pPr algn="l">
              <a:lnSpc>
                <a:spcPts val="1744"/>
              </a:lnSpc>
            </a:pPr>
            <a:r>
              <a:rPr lang="en-US" sz="1453">
                <a:solidFill>
                  <a:srgbClr val="232D37"/>
                </a:solidFill>
                <a:latin typeface="Aptos"/>
                <a:ea typeface="Aptos"/>
                <a:cs typeface="Aptos"/>
                <a:sym typeface="Aptos"/>
              </a:rPr>
              <a:t>Multilingual support, analytics, feedback-driven recommendation tuning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48336"/>
            <a:ext cx="18288000" cy="738664"/>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319782" y="-214639"/>
            <a:ext cx="16459201" cy="1477187"/>
            <a:chOff x="0" y="-28575"/>
            <a:chExt cx="21945600" cy="2620806"/>
          </a:xfrm>
        </p:grpSpPr>
        <p:sp>
          <p:nvSpPr>
            <p:cNvPr id="5" name="Freeform 5"/>
            <p:cNvSpPr/>
            <p:nvPr/>
          </p:nvSpPr>
          <p:spPr>
            <a:xfrm>
              <a:off x="0" y="145404"/>
              <a:ext cx="21945599" cy="1297866"/>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lang="en-IN"/>
            </a:p>
          </p:txBody>
        </p:sp>
        <p:sp>
          <p:nvSpPr>
            <p:cNvPr id="6" name="TextBox 6"/>
            <p:cNvSpPr txBox="1"/>
            <p:nvPr/>
          </p:nvSpPr>
          <p:spPr>
            <a:xfrm>
              <a:off x="0" y="-28575"/>
              <a:ext cx="21945600" cy="2620806"/>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      FEASIBILITY AND VIABILITY</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lang="en-IN"/>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4</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txBody>
            <a:bodyPr/>
            <a:lstStyle/>
            <a:p>
              <a:endParaRPr lang="en-IN"/>
            </a:p>
          </p:txBody>
        </p:sp>
        <p:sp>
          <p:nvSpPr>
            <p:cNvPr id="12" name="TextBox 12"/>
            <p:cNvSpPr txBox="1"/>
            <p:nvPr/>
          </p:nvSpPr>
          <p:spPr>
            <a:xfrm>
              <a:off x="0" y="-9525"/>
              <a:ext cx="6408001" cy="739775"/>
            </a:xfrm>
            <a:prstGeom prst="rect">
              <a:avLst/>
            </a:prstGeom>
          </p:spPr>
          <p:txBody>
            <a:bodyPr lIns="0" tIns="0" rIns="0" bIns="0" rtlCol="0" anchor="ctr"/>
            <a:lstStyle/>
            <a:p>
              <a:pPr algn="ctr">
                <a:lnSpc>
                  <a:spcPts val="1620"/>
                </a:lnSpc>
              </a:pPr>
              <a:r>
                <a:rPr lang="en-US" sz="1350">
                  <a:solidFill>
                    <a:srgbClr val="586570"/>
                  </a:solidFill>
                  <a:latin typeface="Aptos"/>
                  <a:ea typeface="Aptos"/>
                  <a:cs typeface="Aptos"/>
                  <a:sym typeface="Aptos"/>
                </a:rPr>
                <a:t>SMART INDIA HACKATHON 2026</a:t>
              </a:r>
            </a:p>
          </p:txBody>
        </p:sp>
      </p:grpSp>
      <p:grpSp>
        <p:nvGrpSpPr>
          <p:cNvPr id="13" name="Group 13"/>
          <p:cNvGrpSpPr/>
          <p:nvPr/>
        </p:nvGrpSpPr>
        <p:grpSpPr>
          <a:xfrm>
            <a:off x="14747049" y="135850"/>
            <a:ext cx="3374774" cy="1116868"/>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lang="en-IN"/>
            </a:p>
          </p:txBody>
        </p:sp>
      </p:grpSp>
      <p:grpSp>
        <p:nvGrpSpPr>
          <p:cNvPr id="15" name="Group 15"/>
          <p:cNvGrpSpPr/>
          <p:nvPr/>
        </p:nvGrpSpPr>
        <p:grpSpPr>
          <a:xfrm>
            <a:off x="166149" y="70108"/>
            <a:ext cx="1500559" cy="1453658"/>
            <a:chOff x="0" y="0"/>
            <a:chExt cx="2000745" cy="1938210"/>
          </a:xfrm>
        </p:grpSpPr>
        <p:sp>
          <p:nvSpPr>
            <p:cNvPr id="16" name="Freeform 16"/>
            <p:cNvSpPr/>
            <p:nvPr/>
          </p:nvSpPr>
          <p:spPr>
            <a:xfrm>
              <a:off x="0" y="0"/>
              <a:ext cx="2000758" cy="1938274"/>
            </a:xfrm>
            <a:custGeom>
              <a:avLst/>
              <a:gdLst/>
              <a:ahLst/>
              <a:cxnLst/>
              <a:rect l="l" t="t" r="r" b="b"/>
              <a:pathLst>
                <a:path w="2000758" h="1938274">
                  <a:moveTo>
                    <a:pt x="0" y="0"/>
                  </a:moveTo>
                  <a:lnTo>
                    <a:pt x="2000758" y="0"/>
                  </a:lnTo>
                  <a:lnTo>
                    <a:pt x="2000758" y="1938274"/>
                  </a:lnTo>
                  <a:lnTo>
                    <a:pt x="0" y="1938274"/>
                  </a:lnTo>
                  <a:lnTo>
                    <a:pt x="0" y="0"/>
                  </a:lnTo>
                  <a:close/>
                </a:path>
              </a:pathLst>
            </a:custGeom>
            <a:blipFill>
              <a:blip r:embed="rId5"/>
              <a:stretch>
                <a:fillRect t="-1613" b="-1609"/>
              </a:stretch>
            </a:blipFill>
          </p:spPr>
          <p:txBody>
            <a:bodyPr/>
            <a:lstStyle/>
            <a:p>
              <a:endParaRPr lang="en-IN"/>
            </a:p>
          </p:txBody>
        </p:sp>
      </p:grpSp>
      <p:sp>
        <p:nvSpPr>
          <p:cNvPr id="163" name="TextBox 162">
            <a:extLst>
              <a:ext uri="{FF2B5EF4-FFF2-40B4-BE49-F238E27FC236}">
                <a16:creationId xmlns:a16="http://schemas.microsoft.com/office/drawing/2014/main" id="{CB32207A-E220-5825-0B0F-39F023B3FB23}"/>
              </a:ext>
            </a:extLst>
          </p:cNvPr>
          <p:cNvSpPr txBox="1"/>
          <p:nvPr/>
        </p:nvSpPr>
        <p:spPr>
          <a:xfrm>
            <a:off x="166149" y="1702156"/>
            <a:ext cx="3768894" cy="738664"/>
          </a:xfrm>
          <a:prstGeom prst="rect">
            <a:avLst/>
          </a:prstGeom>
          <a:noFill/>
        </p:spPr>
        <p:txBody>
          <a:bodyPr wrap="square" rtlCol="0">
            <a:spAutoFit/>
          </a:bodyPr>
          <a:lstStyle/>
          <a:p>
            <a:endParaRPr lang="en-US" sz="2400" b="1" u="sng" dirty="0">
              <a:solidFill>
                <a:schemeClr val="tx2"/>
              </a:solidFill>
            </a:endParaRPr>
          </a:p>
          <a:p>
            <a:endParaRPr lang="en-IN" dirty="0"/>
          </a:p>
        </p:txBody>
      </p:sp>
      <p:grpSp>
        <p:nvGrpSpPr>
          <p:cNvPr id="166" name="Group 40">
            <a:extLst>
              <a:ext uri="{FF2B5EF4-FFF2-40B4-BE49-F238E27FC236}">
                <a16:creationId xmlns:a16="http://schemas.microsoft.com/office/drawing/2014/main" id="{986FC2A2-C085-D1C0-9EEC-87C44F4C01AD}"/>
              </a:ext>
            </a:extLst>
          </p:cNvPr>
          <p:cNvGrpSpPr/>
          <p:nvPr/>
        </p:nvGrpSpPr>
        <p:grpSpPr>
          <a:xfrm>
            <a:off x="212448" y="3133555"/>
            <a:ext cx="8723208" cy="1241107"/>
            <a:chOff x="-161391" y="-757524"/>
            <a:chExt cx="6835408" cy="2008805"/>
          </a:xfrm>
        </p:grpSpPr>
        <p:sp>
          <p:nvSpPr>
            <p:cNvPr id="167" name="Freeform 41">
              <a:extLst>
                <a:ext uri="{FF2B5EF4-FFF2-40B4-BE49-F238E27FC236}">
                  <a16:creationId xmlns:a16="http://schemas.microsoft.com/office/drawing/2014/main" id="{5615B5ED-225F-8A68-F527-8302164BB779}"/>
                </a:ext>
              </a:extLst>
            </p:cNvPr>
            <p:cNvSpPr/>
            <p:nvPr/>
          </p:nvSpPr>
          <p:spPr>
            <a:xfrm>
              <a:off x="-161391" y="-757524"/>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177" name="TextBox 37">
            <a:extLst>
              <a:ext uri="{FF2B5EF4-FFF2-40B4-BE49-F238E27FC236}">
                <a16:creationId xmlns:a16="http://schemas.microsoft.com/office/drawing/2014/main" id="{392B406B-1DBA-3BC7-F294-2DD2176ACFE4}"/>
              </a:ext>
            </a:extLst>
          </p:cNvPr>
          <p:cNvSpPr txBox="1"/>
          <p:nvPr/>
        </p:nvSpPr>
        <p:spPr>
          <a:xfrm>
            <a:off x="319782" y="8337475"/>
            <a:ext cx="9097920" cy="571529"/>
          </a:xfrm>
          <a:prstGeom prst="rect">
            <a:avLst/>
          </a:prstGeom>
        </p:spPr>
        <p:txBody>
          <a:bodyPr lIns="50800" tIns="50800" rIns="50800" bIns="50800" rtlCol="0" anchor="ctr"/>
          <a:lstStyle/>
          <a:p>
            <a:pPr algn="ctr">
              <a:lnSpc>
                <a:spcPts val="2070"/>
              </a:lnSpc>
            </a:pPr>
            <a:r>
              <a:rPr lang="en-US" sz="1725" b="1" dirty="0">
                <a:solidFill>
                  <a:srgbClr val="FFFFFF"/>
                </a:solidFill>
                <a:latin typeface="Aptos Bold"/>
                <a:ea typeface="Aptos Bold"/>
                <a:cs typeface="Aptos Bold"/>
                <a:sym typeface="Aptos Bold"/>
              </a:rPr>
              <a:t>iGOT enables the learning. StatSkill AI makes the learning measurable. From learning delivered → to competency demonstrated.</a:t>
            </a:r>
          </a:p>
        </p:txBody>
      </p:sp>
      <p:sp>
        <p:nvSpPr>
          <p:cNvPr id="23" name="Rounded Rectangle 7">
            <a:extLst>
              <a:ext uri="{FF2B5EF4-FFF2-40B4-BE49-F238E27FC236}">
                <a16:creationId xmlns:a16="http://schemas.microsoft.com/office/drawing/2014/main" id="{048D6EA6-CFA5-1980-3DBF-3B94D1C80E5E}"/>
              </a:ext>
            </a:extLst>
          </p:cNvPr>
          <p:cNvSpPr/>
          <p:nvPr/>
        </p:nvSpPr>
        <p:spPr>
          <a:xfrm>
            <a:off x="1624574" y="2222060"/>
            <a:ext cx="5619071" cy="658368"/>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400" b="1">
                <a:solidFill>
                  <a:schemeClr val="tx2"/>
                </a:solidFill>
              </a:rPr>
              <a:t>WHY CAN STATSKILL AI ACTUALLY WORK?</a:t>
            </a:r>
            <a:endParaRPr lang="en-IN" sz="2400" b="1" dirty="0">
              <a:solidFill>
                <a:schemeClr val="tx2"/>
              </a:solidFill>
            </a:endParaRPr>
          </a:p>
        </p:txBody>
      </p:sp>
      <p:grpSp>
        <p:nvGrpSpPr>
          <p:cNvPr id="24" name="Group 35">
            <a:extLst>
              <a:ext uri="{FF2B5EF4-FFF2-40B4-BE49-F238E27FC236}">
                <a16:creationId xmlns:a16="http://schemas.microsoft.com/office/drawing/2014/main" id="{606A9C91-E417-30B1-C2F7-FE27254A665E}"/>
              </a:ext>
            </a:extLst>
          </p:cNvPr>
          <p:cNvGrpSpPr/>
          <p:nvPr/>
        </p:nvGrpSpPr>
        <p:grpSpPr>
          <a:xfrm>
            <a:off x="3147050" y="1174125"/>
            <a:ext cx="2642383" cy="658368"/>
            <a:chOff x="-441183" y="-152532"/>
            <a:chExt cx="23281854" cy="1456944"/>
          </a:xfrm>
        </p:grpSpPr>
        <p:sp>
          <p:nvSpPr>
            <p:cNvPr id="25" name="Freeform 36">
              <a:extLst>
                <a:ext uri="{FF2B5EF4-FFF2-40B4-BE49-F238E27FC236}">
                  <a16:creationId xmlns:a16="http://schemas.microsoft.com/office/drawing/2014/main" id="{30815D44-A788-1C0B-C1E7-0859D8791D46}"/>
                </a:ext>
              </a:extLst>
            </p:cNvPr>
            <p:cNvSpPr/>
            <p:nvPr/>
          </p:nvSpPr>
          <p:spPr>
            <a:xfrm>
              <a:off x="-441183" y="-152532"/>
              <a:ext cx="22840671" cy="1456944"/>
            </a:xfrm>
            <a:custGeom>
              <a:avLst/>
              <a:gdLst/>
              <a:ahLst/>
              <a:cxnLst/>
              <a:rect l="l" t="t" r="r" b="b"/>
              <a:pathLst>
                <a:path w="22840671" h="1456944">
                  <a:moveTo>
                    <a:pt x="0" y="242824"/>
                  </a:moveTo>
                  <a:cubicBezTo>
                    <a:pt x="0" y="108712"/>
                    <a:pt x="252997" y="0"/>
                    <a:pt x="565106" y="0"/>
                  </a:cubicBezTo>
                  <a:lnTo>
                    <a:pt x="22275564" y="0"/>
                  </a:lnTo>
                  <a:cubicBezTo>
                    <a:pt x="22587674" y="0"/>
                    <a:pt x="22840671" y="108712"/>
                    <a:pt x="22840671" y="242824"/>
                  </a:cubicBezTo>
                  <a:lnTo>
                    <a:pt x="22840671" y="1214120"/>
                  </a:lnTo>
                  <a:cubicBezTo>
                    <a:pt x="22840671" y="1348232"/>
                    <a:pt x="22587674" y="1456944"/>
                    <a:pt x="22275564" y="1456944"/>
                  </a:cubicBezTo>
                  <a:lnTo>
                    <a:pt x="565106" y="1456944"/>
                  </a:lnTo>
                  <a:cubicBezTo>
                    <a:pt x="252997" y="1456944"/>
                    <a:pt x="0" y="1348232"/>
                    <a:pt x="0" y="1214120"/>
                  </a:cubicBezTo>
                  <a:close/>
                </a:path>
              </a:pathLst>
            </a:custGeom>
            <a:solidFill>
              <a:srgbClr val="234E7D"/>
            </a:solidFill>
            <a:ln w="22860" cap="sq">
              <a:solidFill>
                <a:srgbClr val="234E7D"/>
              </a:solidFill>
              <a:prstDash val="solid"/>
              <a:miter/>
            </a:ln>
          </p:spPr>
          <p:txBody>
            <a:bodyPr/>
            <a:lstStyle/>
            <a:p>
              <a:endParaRPr lang="en-IN" dirty="0"/>
            </a:p>
          </p:txBody>
        </p:sp>
        <p:sp>
          <p:nvSpPr>
            <p:cNvPr id="26" name="TextBox 37">
              <a:extLst>
                <a:ext uri="{FF2B5EF4-FFF2-40B4-BE49-F238E27FC236}">
                  <a16:creationId xmlns:a16="http://schemas.microsoft.com/office/drawing/2014/main" id="{B224A063-F39D-76E3-DAAB-1901137314AA}"/>
                </a:ext>
              </a:extLst>
            </p:cNvPr>
            <p:cNvSpPr txBox="1"/>
            <p:nvPr/>
          </p:nvSpPr>
          <p:spPr>
            <a:xfrm>
              <a:off x="-1" y="143477"/>
              <a:ext cx="22840672" cy="836097"/>
            </a:xfrm>
            <a:prstGeom prst="rect">
              <a:avLst/>
            </a:prstGeom>
          </p:spPr>
          <p:txBody>
            <a:bodyPr lIns="50800" tIns="50800" rIns="50800" bIns="50800" rtlCol="0" anchor="ctr"/>
            <a:lstStyle/>
            <a:p>
              <a:pPr algn="ctr">
                <a:lnSpc>
                  <a:spcPts val="2070"/>
                </a:lnSpc>
              </a:pPr>
              <a:endParaRPr lang="en-US" sz="3200" b="1" dirty="0">
                <a:solidFill>
                  <a:srgbClr val="FFFFFF"/>
                </a:solidFill>
                <a:latin typeface="Aptos Bold"/>
                <a:ea typeface="Aptos Bold"/>
                <a:cs typeface="Aptos Bold"/>
                <a:sym typeface="Aptos Bold"/>
              </a:endParaRPr>
            </a:p>
          </p:txBody>
        </p:sp>
      </p:grpSp>
      <p:sp>
        <p:nvSpPr>
          <p:cNvPr id="28" name="TextBox 27">
            <a:extLst>
              <a:ext uri="{FF2B5EF4-FFF2-40B4-BE49-F238E27FC236}">
                <a16:creationId xmlns:a16="http://schemas.microsoft.com/office/drawing/2014/main" id="{FE36B90D-6D05-6088-9925-CC900E07150C}"/>
              </a:ext>
            </a:extLst>
          </p:cNvPr>
          <p:cNvSpPr txBox="1"/>
          <p:nvPr/>
        </p:nvSpPr>
        <p:spPr>
          <a:xfrm>
            <a:off x="3250448" y="1152573"/>
            <a:ext cx="2592311" cy="646331"/>
          </a:xfrm>
          <a:prstGeom prst="rect">
            <a:avLst/>
          </a:prstGeom>
          <a:noFill/>
        </p:spPr>
        <p:txBody>
          <a:bodyPr wrap="square">
            <a:spAutoFit/>
          </a:bodyPr>
          <a:lstStyle/>
          <a:p>
            <a:r>
              <a:rPr lang="en-US" sz="3600" b="1" dirty="0">
                <a:solidFill>
                  <a:schemeClr val="bg1"/>
                </a:solidFill>
              </a:rPr>
              <a:t>FEASIBILITY</a:t>
            </a:r>
            <a:endParaRPr lang="en-IN" sz="3600" dirty="0">
              <a:solidFill>
                <a:schemeClr val="bg1"/>
              </a:solidFill>
            </a:endParaRPr>
          </a:p>
        </p:txBody>
      </p:sp>
      <p:sp>
        <p:nvSpPr>
          <p:cNvPr id="30" name="TextBox 29">
            <a:extLst>
              <a:ext uri="{FF2B5EF4-FFF2-40B4-BE49-F238E27FC236}">
                <a16:creationId xmlns:a16="http://schemas.microsoft.com/office/drawing/2014/main" id="{9C79658A-6EA3-B6E3-5328-8A8A70334CEF}"/>
              </a:ext>
            </a:extLst>
          </p:cNvPr>
          <p:cNvSpPr txBox="1"/>
          <p:nvPr/>
        </p:nvSpPr>
        <p:spPr>
          <a:xfrm>
            <a:off x="369855" y="3158374"/>
            <a:ext cx="8334307" cy="1692771"/>
          </a:xfrm>
          <a:prstGeom prst="rect">
            <a:avLst/>
          </a:prstGeom>
          <a:noFill/>
        </p:spPr>
        <p:txBody>
          <a:bodyPr wrap="square">
            <a:spAutoFit/>
          </a:bodyPr>
          <a:lstStyle/>
          <a:p>
            <a:r>
              <a:rPr lang="en-IN" sz="2400" b="1" u="sng" dirty="0"/>
              <a:t>EXISTING </a:t>
            </a:r>
            <a:r>
              <a:rPr lang="en-IN" sz="2400" b="1" dirty="0"/>
              <a:t> </a:t>
            </a:r>
            <a:r>
              <a:rPr lang="en-IN" sz="2400" b="1" u="sng" dirty="0"/>
              <a:t>FOUNDATION</a:t>
            </a:r>
          </a:p>
          <a:p>
            <a:r>
              <a:rPr lang="en-IN" sz="2000" i="1" dirty="0"/>
              <a:t>Built around </a:t>
            </a:r>
            <a:r>
              <a:rPr lang="en-IN" sz="2000" i="1" dirty="0" err="1"/>
              <a:t>iGOT</a:t>
            </a:r>
            <a:r>
              <a:rPr lang="en-IN" sz="2000" i="1" dirty="0"/>
              <a:t>, NSSTA, existing competency frameworks and officer profiles — not  a new learning ecosystem.</a:t>
            </a:r>
          </a:p>
          <a:p>
            <a:endParaRPr lang="en-IN" sz="2000" i="1" dirty="0"/>
          </a:p>
          <a:p>
            <a:endParaRPr lang="en-US" sz="2000" i="1" dirty="0"/>
          </a:p>
        </p:txBody>
      </p:sp>
      <p:grpSp>
        <p:nvGrpSpPr>
          <p:cNvPr id="31" name="Group 40">
            <a:extLst>
              <a:ext uri="{FF2B5EF4-FFF2-40B4-BE49-F238E27FC236}">
                <a16:creationId xmlns:a16="http://schemas.microsoft.com/office/drawing/2014/main" id="{50ADDF52-94A9-75A0-66CA-0BC1C5FB40BB}"/>
              </a:ext>
            </a:extLst>
          </p:cNvPr>
          <p:cNvGrpSpPr/>
          <p:nvPr/>
        </p:nvGrpSpPr>
        <p:grpSpPr>
          <a:xfrm>
            <a:off x="185000" y="4744965"/>
            <a:ext cx="8750656" cy="1241107"/>
            <a:chOff x="-161391" y="-757524"/>
            <a:chExt cx="6835408" cy="2008805"/>
          </a:xfrm>
        </p:grpSpPr>
        <p:sp>
          <p:nvSpPr>
            <p:cNvPr id="32" name="Freeform 41">
              <a:extLst>
                <a:ext uri="{FF2B5EF4-FFF2-40B4-BE49-F238E27FC236}">
                  <a16:creationId xmlns:a16="http://schemas.microsoft.com/office/drawing/2014/main" id="{02BCC1A2-3F4E-A0E3-D08C-347692D4A36A}"/>
                </a:ext>
              </a:extLst>
            </p:cNvPr>
            <p:cNvSpPr/>
            <p:nvPr/>
          </p:nvSpPr>
          <p:spPr>
            <a:xfrm>
              <a:off x="-161391" y="-757524"/>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34" name="TextBox 33">
            <a:extLst>
              <a:ext uri="{FF2B5EF4-FFF2-40B4-BE49-F238E27FC236}">
                <a16:creationId xmlns:a16="http://schemas.microsoft.com/office/drawing/2014/main" id="{05D5FB47-BFA2-FDE1-BD3C-B4EE5D2C7607}"/>
              </a:ext>
            </a:extLst>
          </p:cNvPr>
          <p:cNvSpPr txBox="1"/>
          <p:nvPr/>
        </p:nvSpPr>
        <p:spPr>
          <a:xfrm>
            <a:off x="298357" y="4750113"/>
            <a:ext cx="8637299" cy="1077218"/>
          </a:xfrm>
          <a:prstGeom prst="rect">
            <a:avLst/>
          </a:prstGeom>
          <a:noFill/>
        </p:spPr>
        <p:txBody>
          <a:bodyPr wrap="square">
            <a:spAutoFit/>
          </a:bodyPr>
          <a:lstStyle/>
          <a:p>
            <a:r>
              <a:rPr lang="en-US" sz="2400" b="1" dirty="0"/>
              <a:t> </a:t>
            </a:r>
            <a:r>
              <a:rPr lang="en-US" sz="2400" b="1" u="sng" dirty="0"/>
              <a:t>AVAILABLE</a:t>
            </a:r>
            <a:r>
              <a:rPr lang="en-US" sz="2400" b="1" dirty="0"/>
              <a:t>  </a:t>
            </a:r>
            <a:r>
              <a:rPr lang="en-US" sz="2400" b="1" u="sng" dirty="0"/>
              <a:t>INPUTS</a:t>
            </a:r>
          </a:p>
          <a:p>
            <a:r>
              <a:rPr lang="en-US" sz="2000" i="1" dirty="0"/>
              <a:t>Role requirements, competency standards, learning resources and assessment results provide the data needed to identify gaps and measure progress.</a:t>
            </a:r>
          </a:p>
        </p:txBody>
      </p:sp>
      <p:grpSp>
        <p:nvGrpSpPr>
          <p:cNvPr id="35" name="Group 40">
            <a:extLst>
              <a:ext uri="{FF2B5EF4-FFF2-40B4-BE49-F238E27FC236}">
                <a16:creationId xmlns:a16="http://schemas.microsoft.com/office/drawing/2014/main" id="{88378E22-B815-2AAB-F14F-F0CDC6E52D18}"/>
              </a:ext>
            </a:extLst>
          </p:cNvPr>
          <p:cNvGrpSpPr/>
          <p:nvPr/>
        </p:nvGrpSpPr>
        <p:grpSpPr>
          <a:xfrm>
            <a:off x="212448" y="6333901"/>
            <a:ext cx="8723208" cy="1241107"/>
            <a:chOff x="-185055" y="-3640836"/>
            <a:chExt cx="6835408" cy="2008805"/>
          </a:xfrm>
        </p:grpSpPr>
        <p:sp>
          <p:nvSpPr>
            <p:cNvPr id="36" name="Freeform 41">
              <a:extLst>
                <a:ext uri="{FF2B5EF4-FFF2-40B4-BE49-F238E27FC236}">
                  <a16:creationId xmlns:a16="http://schemas.microsoft.com/office/drawing/2014/main" id="{30B1EEA1-DBB1-9E18-F0A6-773DD004AA38}"/>
                </a:ext>
              </a:extLst>
            </p:cNvPr>
            <p:cNvSpPr/>
            <p:nvPr/>
          </p:nvSpPr>
          <p:spPr>
            <a:xfrm>
              <a:off x="-185055" y="-3640836"/>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38" name="TextBox 37">
            <a:extLst>
              <a:ext uri="{FF2B5EF4-FFF2-40B4-BE49-F238E27FC236}">
                <a16:creationId xmlns:a16="http://schemas.microsoft.com/office/drawing/2014/main" id="{D98439FD-F8D6-862C-97AB-F92FDF4B1FF8}"/>
              </a:ext>
            </a:extLst>
          </p:cNvPr>
          <p:cNvSpPr txBox="1"/>
          <p:nvPr/>
        </p:nvSpPr>
        <p:spPr>
          <a:xfrm>
            <a:off x="319782" y="6395334"/>
            <a:ext cx="8384380" cy="1077218"/>
          </a:xfrm>
          <a:prstGeom prst="rect">
            <a:avLst/>
          </a:prstGeom>
          <a:noFill/>
        </p:spPr>
        <p:txBody>
          <a:bodyPr wrap="square">
            <a:spAutoFit/>
          </a:bodyPr>
          <a:lstStyle/>
          <a:p>
            <a:r>
              <a:rPr lang="en-US" sz="2400" b="1" u="sng" dirty="0"/>
              <a:t>AI</a:t>
            </a:r>
            <a:r>
              <a:rPr lang="en-US" sz="2400" dirty="0"/>
              <a:t> </a:t>
            </a:r>
            <a:r>
              <a:rPr lang="en-US" sz="2400" b="1" u="sng" dirty="0"/>
              <a:t>AS</a:t>
            </a:r>
            <a:r>
              <a:rPr lang="en-US" sz="2400" dirty="0"/>
              <a:t> </a:t>
            </a:r>
            <a:r>
              <a:rPr lang="en-US" sz="2400" b="1" u="sng" dirty="0"/>
              <a:t>THE</a:t>
            </a:r>
            <a:r>
              <a:rPr lang="en-US" sz="2400" dirty="0"/>
              <a:t> </a:t>
            </a:r>
            <a:r>
              <a:rPr lang="en-US" sz="2400" b="1" u="sng" dirty="0"/>
              <a:t>CONNECTING</a:t>
            </a:r>
            <a:r>
              <a:rPr lang="en-US" sz="2400" dirty="0"/>
              <a:t> </a:t>
            </a:r>
            <a:r>
              <a:rPr lang="en-US" sz="2400" b="1" u="sng" dirty="0"/>
              <a:t>LAYER</a:t>
            </a:r>
          </a:p>
          <a:p>
            <a:r>
              <a:rPr lang="en-US" sz="2000" i="1" dirty="0"/>
              <a:t>AI brings these existing components together to assess → identify gaps → recommend → reassess, making the proposed workflow technically achievable</a:t>
            </a:r>
            <a:r>
              <a:rPr lang="en-US" sz="1800" dirty="0"/>
              <a:t>.</a:t>
            </a:r>
            <a:endParaRPr lang="en-IN" sz="1800" dirty="0"/>
          </a:p>
        </p:txBody>
      </p:sp>
      <p:sp>
        <p:nvSpPr>
          <p:cNvPr id="40" name="Freeform 41">
            <a:extLst>
              <a:ext uri="{FF2B5EF4-FFF2-40B4-BE49-F238E27FC236}">
                <a16:creationId xmlns:a16="http://schemas.microsoft.com/office/drawing/2014/main" id="{6E32A200-95AE-0C22-B86F-53B9DE9A0CF9}"/>
              </a:ext>
            </a:extLst>
          </p:cNvPr>
          <p:cNvSpPr/>
          <p:nvPr/>
        </p:nvSpPr>
        <p:spPr>
          <a:xfrm>
            <a:off x="212448" y="7921579"/>
            <a:ext cx="8723208" cy="1393936"/>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r>
              <a:rPr lang="en-US" sz="2400" b="1" dirty="0"/>
              <a:t> </a:t>
            </a:r>
            <a:r>
              <a:rPr lang="en-US" sz="2400" b="1" u="sng" dirty="0"/>
              <a:t>INCREMENTAL</a:t>
            </a:r>
            <a:r>
              <a:rPr lang="en-US" sz="2400" b="1" dirty="0"/>
              <a:t> </a:t>
            </a:r>
            <a:r>
              <a:rPr lang="en-US" sz="2400" b="1" u="sng" dirty="0"/>
              <a:t>IMPLEMENTATION</a:t>
            </a:r>
          </a:p>
          <a:p>
            <a:r>
              <a:rPr lang="en-US" sz="2000" i="1" dirty="0"/>
              <a:t>The system can begin with defined roles and competencies, validate the assessment–recommendation cycle, and then extend to additional roles and departments</a:t>
            </a:r>
            <a:r>
              <a:rPr lang="en-US" dirty="0"/>
              <a:t>.</a:t>
            </a:r>
            <a:endParaRPr lang="en-IN" dirty="0"/>
          </a:p>
        </p:txBody>
      </p:sp>
      <p:cxnSp>
        <p:nvCxnSpPr>
          <p:cNvPr id="42" name="Straight Connector 41">
            <a:extLst>
              <a:ext uri="{FF2B5EF4-FFF2-40B4-BE49-F238E27FC236}">
                <a16:creationId xmlns:a16="http://schemas.microsoft.com/office/drawing/2014/main" id="{F31DC94D-D3E4-319D-5DF8-70199E93FD59}"/>
              </a:ext>
            </a:extLst>
          </p:cNvPr>
          <p:cNvCxnSpPr>
            <a:cxnSpLocks/>
          </p:cNvCxnSpPr>
          <p:nvPr/>
        </p:nvCxnSpPr>
        <p:spPr>
          <a:xfrm>
            <a:off x="9144000" y="1030147"/>
            <a:ext cx="0" cy="85132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387E692-510F-01AC-D3F0-701561927C52}"/>
              </a:ext>
            </a:extLst>
          </p:cNvPr>
          <p:cNvSpPr txBox="1"/>
          <p:nvPr/>
        </p:nvSpPr>
        <p:spPr>
          <a:xfrm>
            <a:off x="11459526" y="1116465"/>
            <a:ext cx="9144000" cy="646331"/>
          </a:xfrm>
          <a:prstGeom prst="rect">
            <a:avLst/>
          </a:prstGeom>
          <a:noFill/>
        </p:spPr>
        <p:txBody>
          <a:bodyPr wrap="square">
            <a:spAutoFit/>
          </a:bodyPr>
          <a:lstStyle/>
          <a:p>
            <a:r>
              <a:rPr lang="en-US" sz="3600" b="1" dirty="0">
                <a:solidFill>
                  <a:schemeClr val="bg1"/>
                </a:solidFill>
              </a:rPr>
              <a:t>VIABILITY</a:t>
            </a:r>
            <a:endParaRPr lang="en-IN" sz="3600" dirty="0">
              <a:solidFill>
                <a:schemeClr val="bg1"/>
              </a:solidFill>
            </a:endParaRPr>
          </a:p>
        </p:txBody>
      </p:sp>
      <p:grpSp>
        <p:nvGrpSpPr>
          <p:cNvPr id="59" name="Group 35">
            <a:extLst>
              <a:ext uri="{FF2B5EF4-FFF2-40B4-BE49-F238E27FC236}">
                <a16:creationId xmlns:a16="http://schemas.microsoft.com/office/drawing/2014/main" id="{F2B2B731-EE54-4A73-C3D9-F29959069F0F}"/>
              </a:ext>
            </a:extLst>
          </p:cNvPr>
          <p:cNvGrpSpPr/>
          <p:nvPr/>
        </p:nvGrpSpPr>
        <p:grpSpPr>
          <a:xfrm>
            <a:off x="11655710" y="1078869"/>
            <a:ext cx="2697247" cy="753624"/>
            <a:chOff x="-441183" y="-152532"/>
            <a:chExt cx="23281854" cy="1456944"/>
          </a:xfrm>
        </p:grpSpPr>
        <p:sp>
          <p:nvSpPr>
            <p:cNvPr id="60" name="Freeform 36">
              <a:extLst>
                <a:ext uri="{FF2B5EF4-FFF2-40B4-BE49-F238E27FC236}">
                  <a16:creationId xmlns:a16="http://schemas.microsoft.com/office/drawing/2014/main" id="{5E5169F9-0D17-687A-B3E2-1B95DF43E103}"/>
                </a:ext>
              </a:extLst>
            </p:cNvPr>
            <p:cNvSpPr/>
            <p:nvPr/>
          </p:nvSpPr>
          <p:spPr>
            <a:xfrm>
              <a:off x="-441183" y="-152532"/>
              <a:ext cx="22840671" cy="1456944"/>
            </a:xfrm>
            <a:custGeom>
              <a:avLst/>
              <a:gdLst/>
              <a:ahLst/>
              <a:cxnLst/>
              <a:rect l="l" t="t" r="r" b="b"/>
              <a:pathLst>
                <a:path w="22840671" h="1456944">
                  <a:moveTo>
                    <a:pt x="0" y="242824"/>
                  </a:moveTo>
                  <a:cubicBezTo>
                    <a:pt x="0" y="108712"/>
                    <a:pt x="252997" y="0"/>
                    <a:pt x="565106" y="0"/>
                  </a:cubicBezTo>
                  <a:lnTo>
                    <a:pt x="22275564" y="0"/>
                  </a:lnTo>
                  <a:cubicBezTo>
                    <a:pt x="22587674" y="0"/>
                    <a:pt x="22840671" y="108712"/>
                    <a:pt x="22840671" y="242824"/>
                  </a:cubicBezTo>
                  <a:lnTo>
                    <a:pt x="22840671" y="1214120"/>
                  </a:lnTo>
                  <a:cubicBezTo>
                    <a:pt x="22840671" y="1348232"/>
                    <a:pt x="22587674" y="1456944"/>
                    <a:pt x="22275564" y="1456944"/>
                  </a:cubicBezTo>
                  <a:lnTo>
                    <a:pt x="565106" y="1456944"/>
                  </a:lnTo>
                  <a:cubicBezTo>
                    <a:pt x="252997" y="1456944"/>
                    <a:pt x="0" y="1348232"/>
                    <a:pt x="0" y="1214120"/>
                  </a:cubicBezTo>
                  <a:close/>
                </a:path>
              </a:pathLst>
            </a:custGeom>
            <a:solidFill>
              <a:srgbClr val="234E7D"/>
            </a:solidFill>
            <a:ln w="22860" cap="sq">
              <a:solidFill>
                <a:srgbClr val="234E7D"/>
              </a:solidFill>
              <a:prstDash val="solid"/>
              <a:miter/>
            </a:ln>
          </p:spPr>
          <p:txBody>
            <a:bodyPr/>
            <a:lstStyle/>
            <a:p>
              <a:r>
                <a:rPr lang="en-US" sz="3200" b="1" dirty="0">
                  <a:solidFill>
                    <a:schemeClr val="bg1"/>
                  </a:solidFill>
                </a:rPr>
                <a:t>   </a:t>
              </a:r>
              <a:r>
                <a:rPr lang="en-US" sz="3600" b="1" dirty="0">
                  <a:solidFill>
                    <a:schemeClr val="bg1"/>
                  </a:solidFill>
                </a:rPr>
                <a:t>VIABILITY</a:t>
              </a:r>
              <a:endParaRPr lang="en-IN" sz="3600" dirty="0"/>
            </a:p>
          </p:txBody>
        </p:sp>
        <p:sp>
          <p:nvSpPr>
            <p:cNvPr id="61" name="TextBox 37">
              <a:extLst>
                <a:ext uri="{FF2B5EF4-FFF2-40B4-BE49-F238E27FC236}">
                  <a16:creationId xmlns:a16="http://schemas.microsoft.com/office/drawing/2014/main" id="{AC2BA19C-0EDA-E8E8-A8C4-4038FC69EB12}"/>
                </a:ext>
              </a:extLst>
            </p:cNvPr>
            <p:cNvSpPr txBox="1"/>
            <p:nvPr/>
          </p:nvSpPr>
          <p:spPr>
            <a:xfrm>
              <a:off x="-1" y="143477"/>
              <a:ext cx="22840672" cy="836097"/>
            </a:xfrm>
            <a:prstGeom prst="rect">
              <a:avLst/>
            </a:prstGeom>
          </p:spPr>
          <p:txBody>
            <a:bodyPr lIns="50800" tIns="50800" rIns="50800" bIns="50800" rtlCol="0" anchor="ctr"/>
            <a:lstStyle/>
            <a:p>
              <a:pPr algn="ctr">
                <a:lnSpc>
                  <a:spcPts val="2070"/>
                </a:lnSpc>
              </a:pPr>
              <a:endParaRPr lang="en-US" sz="3200" b="1" dirty="0">
                <a:solidFill>
                  <a:srgbClr val="FFFFFF"/>
                </a:solidFill>
                <a:latin typeface="Aptos Bold"/>
                <a:ea typeface="Aptos Bold"/>
                <a:cs typeface="Aptos Bold"/>
                <a:sym typeface="Aptos Bold"/>
              </a:endParaRPr>
            </a:p>
          </p:txBody>
        </p:sp>
      </p:grpSp>
      <p:sp>
        <p:nvSpPr>
          <p:cNvPr id="63" name="Rounded Rectangle 7">
            <a:extLst>
              <a:ext uri="{FF2B5EF4-FFF2-40B4-BE49-F238E27FC236}">
                <a16:creationId xmlns:a16="http://schemas.microsoft.com/office/drawing/2014/main" id="{09E0BC6C-2B54-B2D9-9411-62D726ABD0AB}"/>
              </a:ext>
            </a:extLst>
          </p:cNvPr>
          <p:cNvSpPr/>
          <p:nvPr/>
        </p:nvSpPr>
        <p:spPr>
          <a:xfrm>
            <a:off x="10280404" y="2210813"/>
            <a:ext cx="5194947" cy="658368"/>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b="1" dirty="0">
                <a:solidFill>
                  <a:schemeClr val="tx2"/>
                </a:solidFill>
              </a:rPr>
              <a:t>  WHY DOES THE VALUE CONTINUE</a:t>
            </a:r>
            <a:r>
              <a:rPr lang="en-IN" sz="2400" b="1" dirty="0">
                <a:solidFill>
                  <a:schemeClr val="tx2"/>
                </a:solidFill>
              </a:rPr>
              <a:t>?</a:t>
            </a:r>
          </a:p>
        </p:txBody>
      </p:sp>
      <p:grpSp>
        <p:nvGrpSpPr>
          <p:cNvPr id="64" name="Group 40">
            <a:extLst>
              <a:ext uri="{FF2B5EF4-FFF2-40B4-BE49-F238E27FC236}">
                <a16:creationId xmlns:a16="http://schemas.microsoft.com/office/drawing/2014/main" id="{40563588-04C5-3018-E7EF-600AF4DC84E1}"/>
              </a:ext>
            </a:extLst>
          </p:cNvPr>
          <p:cNvGrpSpPr/>
          <p:nvPr/>
        </p:nvGrpSpPr>
        <p:grpSpPr>
          <a:xfrm>
            <a:off x="9352345" y="3123905"/>
            <a:ext cx="8798698" cy="497697"/>
            <a:chOff x="-161391" y="-757524"/>
            <a:chExt cx="6835408" cy="2008805"/>
          </a:xfrm>
        </p:grpSpPr>
        <p:sp>
          <p:nvSpPr>
            <p:cNvPr id="65" name="Freeform 41">
              <a:extLst>
                <a:ext uri="{FF2B5EF4-FFF2-40B4-BE49-F238E27FC236}">
                  <a16:creationId xmlns:a16="http://schemas.microsoft.com/office/drawing/2014/main" id="{EFD3754C-D824-A018-DE04-1DC9FE432605}"/>
                </a:ext>
              </a:extLst>
            </p:cNvPr>
            <p:cNvSpPr/>
            <p:nvPr/>
          </p:nvSpPr>
          <p:spPr>
            <a:xfrm>
              <a:off x="-161391" y="-757524"/>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r>
                <a:rPr lang="en-US" sz="2400" b="1" dirty="0"/>
                <a:t> LEARN → REASSESS → MEASURE → RECOMMEND → LEARN AGAIN</a:t>
              </a:r>
              <a:endParaRPr lang="en-IN" sz="2400" b="1" dirty="0"/>
            </a:p>
          </p:txBody>
        </p:sp>
      </p:grpSp>
      <p:grpSp>
        <p:nvGrpSpPr>
          <p:cNvPr id="66" name="Group 40">
            <a:extLst>
              <a:ext uri="{FF2B5EF4-FFF2-40B4-BE49-F238E27FC236}">
                <a16:creationId xmlns:a16="http://schemas.microsoft.com/office/drawing/2014/main" id="{98E2EE33-FF2A-5878-C2B9-650BD8330AFB}"/>
              </a:ext>
            </a:extLst>
          </p:cNvPr>
          <p:cNvGrpSpPr/>
          <p:nvPr/>
        </p:nvGrpSpPr>
        <p:grpSpPr>
          <a:xfrm>
            <a:off x="9724471" y="4827995"/>
            <a:ext cx="8019516" cy="731255"/>
            <a:chOff x="-161391" y="-757524"/>
            <a:chExt cx="6835408" cy="2008805"/>
          </a:xfrm>
        </p:grpSpPr>
        <p:sp>
          <p:nvSpPr>
            <p:cNvPr id="67" name="Freeform 41">
              <a:extLst>
                <a:ext uri="{FF2B5EF4-FFF2-40B4-BE49-F238E27FC236}">
                  <a16:creationId xmlns:a16="http://schemas.microsoft.com/office/drawing/2014/main" id="{9F946CB0-0823-22A7-5B10-F9C5112CCD52}"/>
                </a:ext>
              </a:extLst>
            </p:cNvPr>
            <p:cNvSpPr/>
            <p:nvPr/>
          </p:nvSpPr>
          <p:spPr>
            <a:xfrm>
              <a:off x="-161391" y="-757524"/>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grpSp>
        <p:nvGrpSpPr>
          <p:cNvPr id="68" name="Group 40">
            <a:extLst>
              <a:ext uri="{FF2B5EF4-FFF2-40B4-BE49-F238E27FC236}">
                <a16:creationId xmlns:a16="http://schemas.microsoft.com/office/drawing/2014/main" id="{00510541-6E66-BA54-8193-F8D28F31A3D6}"/>
              </a:ext>
            </a:extLst>
          </p:cNvPr>
          <p:cNvGrpSpPr/>
          <p:nvPr/>
        </p:nvGrpSpPr>
        <p:grpSpPr>
          <a:xfrm>
            <a:off x="9724471" y="5885597"/>
            <a:ext cx="8019516" cy="684538"/>
            <a:chOff x="-185055" y="-3640836"/>
            <a:chExt cx="6835408" cy="2008805"/>
          </a:xfrm>
        </p:grpSpPr>
        <p:sp>
          <p:nvSpPr>
            <p:cNvPr id="69" name="Freeform 41">
              <a:extLst>
                <a:ext uri="{FF2B5EF4-FFF2-40B4-BE49-F238E27FC236}">
                  <a16:creationId xmlns:a16="http://schemas.microsoft.com/office/drawing/2014/main" id="{268EF723-F602-DE1A-04DB-9FFBD053EF5E}"/>
                </a:ext>
              </a:extLst>
            </p:cNvPr>
            <p:cNvSpPr/>
            <p:nvPr/>
          </p:nvSpPr>
          <p:spPr>
            <a:xfrm>
              <a:off x="-185055" y="-3640836"/>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71" name="Freeform 41">
            <a:extLst>
              <a:ext uri="{FF2B5EF4-FFF2-40B4-BE49-F238E27FC236}">
                <a16:creationId xmlns:a16="http://schemas.microsoft.com/office/drawing/2014/main" id="{F1265698-A91F-242E-E808-DD5D502B0BBC}"/>
              </a:ext>
            </a:extLst>
          </p:cNvPr>
          <p:cNvSpPr/>
          <p:nvPr/>
        </p:nvSpPr>
        <p:spPr>
          <a:xfrm>
            <a:off x="9352345" y="7828225"/>
            <a:ext cx="8798687" cy="1501513"/>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r>
              <a:rPr lang="en-US" sz="2400" b="1" dirty="0"/>
              <a:t>   </a:t>
            </a:r>
            <a:r>
              <a:rPr lang="en-US" sz="2400" b="1" u="sng" dirty="0"/>
              <a:t>↻</a:t>
            </a:r>
            <a:r>
              <a:rPr lang="en-US" sz="2400" b="1" dirty="0"/>
              <a:t>  </a:t>
            </a:r>
            <a:r>
              <a:rPr lang="en-US" sz="2400" b="1" u="sng" dirty="0"/>
              <a:t>CONTINUOUS</a:t>
            </a:r>
            <a:r>
              <a:rPr lang="en-US" sz="2400" b="1" dirty="0"/>
              <a:t> </a:t>
            </a:r>
            <a:r>
              <a:rPr lang="en-US" sz="2400" b="1" u="sng" dirty="0"/>
              <a:t>LEANING</a:t>
            </a:r>
            <a:r>
              <a:rPr lang="en-US" sz="2400" b="1" dirty="0"/>
              <a:t> </a:t>
            </a:r>
            <a:r>
              <a:rPr lang="en-US" sz="2400" b="1" u="sng" dirty="0"/>
              <a:t>LOOP</a:t>
            </a:r>
          </a:p>
          <a:p>
            <a:r>
              <a:rPr lang="en-US" sz="2000" i="1" dirty="0"/>
              <a:t>    Learning completion becomes an input — not the endpoint.</a:t>
            </a:r>
          </a:p>
          <a:p>
            <a:r>
              <a:rPr lang="en-US" sz="2000" b="1" i="1" dirty="0"/>
              <a:t>      </a:t>
            </a:r>
            <a:r>
              <a:rPr lang="en-US" sz="2000" b="1" i="1" u="sng" dirty="0"/>
              <a:t>SCALE</a:t>
            </a:r>
            <a:r>
              <a:rPr lang="en-US" sz="2000" b="1" i="1" dirty="0"/>
              <a:t> </a:t>
            </a:r>
            <a:r>
              <a:rPr lang="en-US" sz="2000" b="1" i="1" u="sng" dirty="0"/>
              <a:t>PATH</a:t>
            </a:r>
          </a:p>
          <a:p>
            <a:r>
              <a:rPr lang="en-US" sz="2000" i="1" dirty="0"/>
              <a:t>  DEFINED ROLE → PILOT → VALIDATE → MORE ROLES → MORE DEPARTMENTS</a:t>
            </a:r>
          </a:p>
        </p:txBody>
      </p:sp>
      <p:sp>
        <p:nvSpPr>
          <p:cNvPr id="73" name="TextBox 72">
            <a:extLst>
              <a:ext uri="{FF2B5EF4-FFF2-40B4-BE49-F238E27FC236}">
                <a16:creationId xmlns:a16="http://schemas.microsoft.com/office/drawing/2014/main" id="{EAECC44B-3E10-60EF-86FF-814B5F5E6A61}"/>
              </a:ext>
            </a:extLst>
          </p:cNvPr>
          <p:cNvSpPr txBox="1"/>
          <p:nvPr/>
        </p:nvSpPr>
        <p:spPr>
          <a:xfrm>
            <a:off x="13382071" y="4373503"/>
            <a:ext cx="10301468" cy="461665"/>
          </a:xfrm>
          <a:prstGeom prst="rect">
            <a:avLst/>
          </a:prstGeom>
          <a:noFill/>
        </p:spPr>
        <p:txBody>
          <a:bodyPr wrap="square">
            <a:spAutoFit/>
          </a:bodyPr>
          <a:lstStyle/>
          <a:p>
            <a:r>
              <a:rPr lang="en-IN" sz="2400" b="1" dirty="0"/>
              <a:t>↓</a:t>
            </a:r>
          </a:p>
        </p:txBody>
      </p:sp>
      <p:sp>
        <p:nvSpPr>
          <p:cNvPr id="74" name="TextBox 73">
            <a:extLst>
              <a:ext uri="{FF2B5EF4-FFF2-40B4-BE49-F238E27FC236}">
                <a16:creationId xmlns:a16="http://schemas.microsoft.com/office/drawing/2014/main" id="{3718A51A-619D-D5B9-5D7D-16FD853B0BB9}"/>
              </a:ext>
            </a:extLst>
          </p:cNvPr>
          <p:cNvSpPr txBox="1"/>
          <p:nvPr/>
        </p:nvSpPr>
        <p:spPr>
          <a:xfrm>
            <a:off x="13382071" y="5471145"/>
            <a:ext cx="463588" cy="461665"/>
          </a:xfrm>
          <a:prstGeom prst="rect">
            <a:avLst/>
          </a:prstGeom>
          <a:noFill/>
        </p:spPr>
        <p:txBody>
          <a:bodyPr wrap="none" rtlCol="0">
            <a:spAutoFit/>
          </a:bodyPr>
          <a:lstStyle/>
          <a:p>
            <a:r>
              <a:rPr lang="en-IN" sz="2400" b="1" dirty="0"/>
              <a:t>↓</a:t>
            </a:r>
            <a:endParaRPr lang="en-IN" sz="2400" dirty="0"/>
          </a:p>
        </p:txBody>
      </p:sp>
      <p:sp>
        <p:nvSpPr>
          <p:cNvPr id="75" name="TextBox 74">
            <a:extLst>
              <a:ext uri="{FF2B5EF4-FFF2-40B4-BE49-F238E27FC236}">
                <a16:creationId xmlns:a16="http://schemas.microsoft.com/office/drawing/2014/main" id="{969345E8-887E-319D-44A4-AC3E11554DEB}"/>
              </a:ext>
            </a:extLst>
          </p:cNvPr>
          <p:cNvSpPr txBox="1"/>
          <p:nvPr/>
        </p:nvSpPr>
        <p:spPr>
          <a:xfrm>
            <a:off x="13385253" y="7506683"/>
            <a:ext cx="184731" cy="461665"/>
          </a:xfrm>
          <a:prstGeom prst="rect">
            <a:avLst/>
          </a:prstGeom>
          <a:noFill/>
        </p:spPr>
        <p:txBody>
          <a:bodyPr wrap="none" rtlCol="0">
            <a:spAutoFit/>
          </a:bodyPr>
          <a:lstStyle/>
          <a:p>
            <a:endParaRPr lang="en-IN" sz="2400" dirty="0"/>
          </a:p>
        </p:txBody>
      </p:sp>
      <p:sp>
        <p:nvSpPr>
          <p:cNvPr id="84" name="TextBox 83">
            <a:extLst>
              <a:ext uri="{FF2B5EF4-FFF2-40B4-BE49-F238E27FC236}">
                <a16:creationId xmlns:a16="http://schemas.microsoft.com/office/drawing/2014/main" id="{0C76D361-8077-17C4-7028-C29FC6FB1028}"/>
              </a:ext>
            </a:extLst>
          </p:cNvPr>
          <p:cNvSpPr txBox="1"/>
          <p:nvPr/>
        </p:nvSpPr>
        <p:spPr>
          <a:xfrm>
            <a:off x="9932819" y="4744965"/>
            <a:ext cx="8647729" cy="769441"/>
          </a:xfrm>
          <a:prstGeom prst="rect">
            <a:avLst/>
          </a:prstGeom>
          <a:noFill/>
        </p:spPr>
        <p:txBody>
          <a:bodyPr wrap="square">
            <a:spAutoFit/>
          </a:bodyPr>
          <a:lstStyle/>
          <a:p>
            <a:r>
              <a:rPr lang="en-IN" sz="2400" b="1" dirty="0"/>
              <a:t>                                              </a:t>
            </a:r>
            <a:r>
              <a:rPr lang="en-IN" sz="2400" b="1" u="sng" dirty="0"/>
              <a:t>Learning</a:t>
            </a:r>
          </a:p>
          <a:p>
            <a:r>
              <a:rPr lang="en-IN" sz="2000" i="1" dirty="0"/>
              <a:t>                          Targeted resources address the identified gap</a:t>
            </a:r>
            <a:r>
              <a:rPr lang="en-IN" dirty="0"/>
              <a:t>.</a:t>
            </a:r>
          </a:p>
        </p:txBody>
      </p:sp>
      <p:grpSp>
        <p:nvGrpSpPr>
          <p:cNvPr id="85" name="Group 40">
            <a:extLst>
              <a:ext uri="{FF2B5EF4-FFF2-40B4-BE49-F238E27FC236}">
                <a16:creationId xmlns:a16="http://schemas.microsoft.com/office/drawing/2014/main" id="{498099BA-2302-140B-D409-A6FA906E652B}"/>
              </a:ext>
            </a:extLst>
          </p:cNvPr>
          <p:cNvGrpSpPr/>
          <p:nvPr/>
        </p:nvGrpSpPr>
        <p:grpSpPr>
          <a:xfrm>
            <a:off x="9724473" y="3786187"/>
            <a:ext cx="8019515" cy="665037"/>
            <a:chOff x="-161391" y="-757524"/>
            <a:chExt cx="6835408" cy="2008805"/>
          </a:xfrm>
        </p:grpSpPr>
        <p:sp>
          <p:nvSpPr>
            <p:cNvPr id="86" name="Freeform 41">
              <a:extLst>
                <a:ext uri="{FF2B5EF4-FFF2-40B4-BE49-F238E27FC236}">
                  <a16:creationId xmlns:a16="http://schemas.microsoft.com/office/drawing/2014/main" id="{60278A74-996F-4563-3E99-62D6EB591B5E}"/>
                </a:ext>
              </a:extLst>
            </p:cNvPr>
            <p:cNvSpPr/>
            <p:nvPr/>
          </p:nvSpPr>
          <p:spPr>
            <a:xfrm>
              <a:off x="-161391" y="-757524"/>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88" name="TextBox 87">
            <a:extLst>
              <a:ext uri="{FF2B5EF4-FFF2-40B4-BE49-F238E27FC236}">
                <a16:creationId xmlns:a16="http://schemas.microsoft.com/office/drawing/2014/main" id="{5A2F8A75-7B3B-B68B-F1B5-DB03189CFF7B}"/>
              </a:ext>
            </a:extLst>
          </p:cNvPr>
          <p:cNvSpPr txBox="1"/>
          <p:nvPr/>
        </p:nvSpPr>
        <p:spPr>
          <a:xfrm>
            <a:off x="11354764" y="3708399"/>
            <a:ext cx="12942953" cy="738664"/>
          </a:xfrm>
          <a:prstGeom prst="rect">
            <a:avLst/>
          </a:prstGeom>
          <a:noFill/>
        </p:spPr>
        <p:txBody>
          <a:bodyPr wrap="square">
            <a:spAutoFit/>
          </a:bodyPr>
          <a:lstStyle/>
          <a:p>
            <a:r>
              <a:rPr lang="en-IN" sz="2400" b="1" dirty="0"/>
              <a:t>                       </a:t>
            </a:r>
            <a:r>
              <a:rPr lang="en-IN" sz="2400" b="1" u="sng" dirty="0"/>
              <a:t>Baseline</a:t>
            </a:r>
          </a:p>
          <a:p>
            <a:r>
              <a:rPr lang="en-IN" sz="1800" i="1" dirty="0"/>
              <a:t>Competency assessment establishes where the officer stands.</a:t>
            </a:r>
            <a:endParaRPr lang="en-IN" dirty="0"/>
          </a:p>
        </p:txBody>
      </p:sp>
      <p:grpSp>
        <p:nvGrpSpPr>
          <p:cNvPr id="89" name="Group 40">
            <a:extLst>
              <a:ext uri="{FF2B5EF4-FFF2-40B4-BE49-F238E27FC236}">
                <a16:creationId xmlns:a16="http://schemas.microsoft.com/office/drawing/2014/main" id="{10315634-F9CB-8B4B-3481-8AE610DEBA8B}"/>
              </a:ext>
            </a:extLst>
          </p:cNvPr>
          <p:cNvGrpSpPr/>
          <p:nvPr/>
        </p:nvGrpSpPr>
        <p:grpSpPr>
          <a:xfrm>
            <a:off x="9737971" y="6894524"/>
            <a:ext cx="8019516" cy="684538"/>
            <a:chOff x="-185055" y="-3640836"/>
            <a:chExt cx="6835408" cy="2008805"/>
          </a:xfrm>
        </p:grpSpPr>
        <p:sp>
          <p:nvSpPr>
            <p:cNvPr id="90" name="Freeform 41">
              <a:extLst>
                <a:ext uri="{FF2B5EF4-FFF2-40B4-BE49-F238E27FC236}">
                  <a16:creationId xmlns:a16="http://schemas.microsoft.com/office/drawing/2014/main" id="{74A0BBAC-166C-92DE-4326-685EEAC4B7C3}"/>
                </a:ext>
              </a:extLst>
            </p:cNvPr>
            <p:cNvSpPr/>
            <p:nvPr/>
          </p:nvSpPr>
          <p:spPr>
            <a:xfrm>
              <a:off x="-185055" y="-3640836"/>
              <a:ext cx="6835408" cy="2008805"/>
            </a:xfrm>
            <a:custGeom>
              <a:avLst/>
              <a:gdLst/>
              <a:ahLst/>
              <a:cxnLst/>
              <a:rect l="l" t="t" r="r" b="b"/>
              <a:pathLst>
                <a:path w="6835408" h="1164336">
                  <a:moveTo>
                    <a:pt x="0" y="194056"/>
                  </a:moveTo>
                  <a:cubicBezTo>
                    <a:pt x="0" y="86868"/>
                    <a:pt x="54876" y="0"/>
                    <a:pt x="122588" y="0"/>
                  </a:cubicBezTo>
                  <a:lnTo>
                    <a:pt x="6712820" y="0"/>
                  </a:lnTo>
                  <a:cubicBezTo>
                    <a:pt x="6780532" y="0"/>
                    <a:pt x="6835408" y="86868"/>
                    <a:pt x="6835408" y="194056"/>
                  </a:cubicBezTo>
                  <a:lnTo>
                    <a:pt x="6835408" y="970280"/>
                  </a:lnTo>
                  <a:cubicBezTo>
                    <a:pt x="6835408" y="1077468"/>
                    <a:pt x="6780532" y="1164336"/>
                    <a:pt x="6712820" y="1164336"/>
                  </a:cubicBezTo>
                  <a:lnTo>
                    <a:pt x="122588" y="1164336"/>
                  </a:lnTo>
                  <a:cubicBezTo>
                    <a:pt x="54876" y="1164336"/>
                    <a:pt x="0" y="1077468"/>
                    <a:pt x="0" y="970280"/>
                  </a:cubicBezTo>
                  <a:close/>
                </a:path>
              </a:pathLst>
            </a:custGeom>
            <a:solidFill>
              <a:srgbClr val="FFFFFF"/>
            </a:solidFill>
            <a:ln w="22860" cap="sq">
              <a:solidFill>
                <a:srgbClr val="1C7F6E"/>
              </a:solidFill>
              <a:prstDash val="solid"/>
              <a:miter/>
            </a:ln>
          </p:spPr>
          <p:txBody>
            <a:bodyPr/>
            <a:lstStyle/>
            <a:p>
              <a:endParaRPr lang="en-IN" dirty="0"/>
            </a:p>
          </p:txBody>
        </p:sp>
      </p:grpSp>
      <p:sp>
        <p:nvSpPr>
          <p:cNvPr id="92" name="TextBox 91">
            <a:extLst>
              <a:ext uri="{FF2B5EF4-FFF2-40B4-BE49-F238E27FC236}">
                <a16:creationId xmlns:a16="http://schemas.microsoft.com/office/drawing/2014/main" id="{80A7E487-314A-462A-6253-07376AA25F7D}"/>
              </a:ext>
            </a:extLst>
          </p:cNvPr>
          <p:cNvSpPr txBox="1"/>
          <p:nvPr/>
        </p:nvSpPr>
        <p:spPr>
          <a:xfrm>
            <a:off x="13382071" y="6497859"/>
            <a:ext cx="558476" cy="461665"/>
          </a:xfrm>
          <a:prstGeom prst="rect">
            <a:avLst/>
          </a:prstGeom>
          <a:noFill/>
        </p:spPr>
        <p:txBody>
          <a:bodyPr wrap="square">
            <a:spAutoFit/>
          </a:bodyPr>
          <a:lstStyle/>
          <a:p>
            <a:r>
              <a:rPr lang="en-IN" sz="2400" b="1" dirty="0"/>
              <a:t>↓</a:t>
            </a:r>
            <a:endParaRPr lang="en-IN" dirty="0"/>
          </a:p>
        </p:txBody>
      </p:sp>
      <p:sp>
        <p:nvSpPr>
          <p:cNvPr id="94" name="TextBox 93">
            <a:extLst>
              <a:ext uri="{FF2B5EF4-FFF2-40B4-BE49-F238E27FC236}">
                <a16:creationId xmlns:a16="http://schemas.microsoft.com/office/drawing/2014/main" id="{0FFCA6EE-406E-609A-6A9F-3734B58D4BD8}"/>
              </a:ext>
            </a:extLst>
          </p:cNvPr>
          <p:cNvSpPr txBox="1"/>
          <p:nvPr/>
        </p:nvSpPr>
        <p:spPr>
          <a:xfrm>
            <a:off x="11044356" y="5831955"/>
            <a:ext cx="12147630" cy="769441"/>
          </a:xfrm>
          <a:prstGeom prst="rect">
            <a:avLst/>
          </a:prstGeom>
          <a:noFill/>
        </p:spPr>
        <p:txBody>
          <a:bodyPr wrap="square">
            <a:spAutoFit/>
          </a:bodyPr>
          <a:lstStyle/>
          <a:p>
            <a:r>
              <a:rPr lang="en-IN" dirty="0"/>
              <a:t>                                  </a:t>
            </a:r>
            <a:r>
              <a:rPr lang="en-IN" sz="2400" b="1" u="sng" dirty="0"/>
              <a:t>Reassessment</a:t>
            </a:r>
          </a:p>
          <a:p>
            <a:r>
              <a:rPr lang="en-IN" sz="2000" i="1" dirty="0"/>
              <a:t>Post-learning assessment establishes what changed.</a:t>
            </a:r>
          </a:p>
        </p:txBody>
      </p:sp>
      <p:sp>
        <p:nvSpPr>
          <p:cNvPr id="96" name="TextBox 95">
            <a:extLst>
              <a:ext uri="{FF2B5EF4-FFF2-40B4-BE49-F238E27FC236}">
                <a16:creationId xmlns:a16="http://schemas.microsoft.com/office/drawing/2014/main" id="{260E5754-8AA8-6F69-2BEA-74E8FF425EEC}"/>
              </a:ext>
            </a:extLst>
          </p:cNvPr>
          <p:cNvSpPr txBox="1"/>
          <p:nvPr/>
        </p:nvSpPr>
        <p:spPr>
          <a:xfrm>
            <a:off x="10081550" y="6830090"/>
            <a:ext cx="8542481" cy="769441"/>
          </a:xfrm>
          <a:prstGeom prst="rect">
            <a:avLst/>
          </a:prstGeom>
          <a:noFill/>
        </p:spPr>
        <p:txBody>
          <a:bodyPr wrap="square">
            <a:spAutoFit/>
          </a:bodyPr>
          <a:lstStyle/>
          <a:p>
            <a:r>
              <a:rPr lang="en-IN" dirty="0"/>
              <a:t>                                                 </a:t>
            </a:r>
            <a:r>
              <a:rPr lang="en-IN" sz="2400" b="1" u="sng" dirty="0"/>
              <a:t>Updated</a:t>
            </a:r>
            <a:r>
              <a:rPr lang="en-IN" sz="2400" b="1" dirty="0"/>
              <a:t> </a:t>
            </a:r>
            <a:r>
              <a:rPr lang="en-IN" sz="2400" b="1" u="sng" dirty="0"/>
              <a:t>Profile</a:t>
            </a:r>
          </a:p>
          <a:p>
            <a:r>
              <a:rPr lang="en-IN" sz="2000" i="1" dirty="0"/>
              <a:t>New competency evidence informs the next learning recommendation.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3811144" y="-58250"/>
            <a:ext cx="9883740" cy="1714500"/>
            <a:chOff x="0" y="0"/>
            <a:chExt cx="13178320" cy="2286000"/>
          </a:xfrm>
        </p:grpSpPr>
        <p:sp>
          <p:nvSpPr>
            <p:cNvPr id="5" name="Freeform 5"/>
            <p:cNvSpPr/>
            <p:nvPr/>
          </p:nvSpPr>
          <p:spPr>
            <a:xfrm>
              <a:off x="0" y="0"/>
              <a:ext cx="13178320" cy="2286000"/>
            </a:xfrm>
            <a:custGeom>
              <a:avLst/>
              <a:gdLst/>
              <a:ahLst/>
              <a:cxnLst/>
              <a:rect l="l" t="t" r="r" b="b"/>
              <a:pathLst>
                <a:path w="13178320" h="2286000">
                  <a:moveTo>
                    <a:pt x="0" y="0"/>
                  </a:moveTo>
                  <a:lnTo>
                    <a:pt x="13178320" y="0"/>
                  </a:lnTo>
                  <a:lnTo>
                    <a:pt x="13178320" y="2286000"/>
                  </a:lnTo>
                  <a:lnTo>
                    <a:pt x="0" y="2286000"/>
                  </a:lnTo>
                  <a:close/>
                </a:path>
              </a:pathLst>
            </a:custGeom>
            <a:blipFill>
              <a:blip r:embed="rId3">
                <a:alphaModFix amt="0"/>
              </a:blip>
              <a:stretch>
                <a:fillRect t="-137056" r="-66528" b="-137056"/>
              </a:stretch>
            </a:blipFill>
          </p:spPr>
          <p:txBody>
            <a:bodyPr/>
            <a:lstStyle/>
            <a:p>
              <a:endParaRPr lang="en-IN"/>
            </a:p>
          </p:txBody>
        </p:sp>
        <p:sp>
          <p:nvSpPr>
            <p:cNvPr id="6" name="TextBox 6"/>
            <p:cNvSpPr txBox="1"/>
            <p:nvPr/>
          </p:nvSpPr>
          <p:spPr>
            <a:xfrm>
              <a:off x="0" y="-28575"/>
              <a:ext cx="1317832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IMPACT AND BENEFITS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lang="en-IN"/>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5</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txBody>
            <a:bodyPr/>
            <a:lstStyle/>
            <a:p>
              <a:endParaRPr lang="en-IN"/>
            </a:p>
          </p:txBody>
        </p:sp>
        <p:sp>
          <p:nvSpPr>
            <p:cNvPr id="12" name="TextBox 12"/>
            <p:cNvSpPr txBox="1"/>
            <p:nvPr/>
          </p:nvSpPr>
          <p:spPr>
            <a:xfrm>
              <a:off x="0" y="-9525"/>
              <a:ext cx="6408001" cy="739775"/>
            </a:xfrm>
            <a:prstGeom prst="rect">
              <a:avLst/>
            </a:prstGeom>
          </p:spPr>
          <p:txBody>
            <a:bodyPr lIns="0" tIns="0" rIns="0" bIns="0" rtlCol="0" anchor="ctr"/>
            <a:lstStyle/>
            <a:p>
              <a:pPr algn="ctr">
                <a:lnSpc>
                  <a:spcPts val="1620"/>
                </a:lnSpc>
              </a:pPr>
              <a:r>
                <a:rPr lang="en-US" sz="1350">
                  <a:solidFill>
                    <a:srgbClr val="586570"/>
                  </a:solidFill>
                  <a:latin typeface="Aptos"/>
                  <a:ea typeface="Aptos"/>
                  <a:cs typeface="Aptos"/>
                  <a:sym typeface="Aptos"/>
                </a:rPr>
                <a:t>SMART INDIA HACKATHON 2026</a:t>
              </a:r>
            </a:p>
          </p:txBody>
        </p:sp>
      </p:grpSp>
      <p:grpSp>
        <p:nvGrpSpPr>
          <p:cNvPr id="13" name="Group 13"/>
          <p:cNvGrpSpPr/>
          <p:nvPr/>
        </p:nvGrpSpPr>
        <p:grpSpPr>
          <a:xfrm>
            <a:off x="14670129" y="2248"/>
            <a:ext cx="3374774" cy="1593504"/>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lang="en-IN"/>
            </a:p>
          </p:txBody>
        </p:sp>
      </p:grpSp>
      <p:grpSp>
        <p:nvGrpSpPr>
          <p:cNvPr id="15" name="Group 15"/>
          <p:cNvGrpSpPr/>
          <p:nvPr/>
        </p:nvGrpSpPr>
        <p:grpSpPr>
          <a:xfrm>
            <a:off x="243097" y="189405"/>
            <a:ext cx="1480719" cy="1453658"/>
            <a:chOff x="0" y="0"/>
            <a:chExt cx="1974292" cy="1938210"/>
          </a:xfrm>
        </p:grpSpPr>
        <p:sp>
          <p:nvSpPr>
            <p:cNvPr id="16" name="Freeform 16"/>
            <p:cNvSpPr/>
            <p:nvPr/>
          </p:nvSpPr>
          <p:spPr>
            <a:xfrm>
              <a:off x="0" y="0"/>
              <a:ext cx="1974305" cy="1938274"/>
            </a:xfrm>
            <a:custGeom>
              <a:avLst/>
              <a:gdLst/>
              <a:ahLst/>
              <a:cxnLst/>
              <a:rect l="l" t="t" r="r" b="b"/>
              <a:pathLst>
                <a:path w="1974305" h="1938274">
                  <a:moveTo>
                    <a:pt x="0" y="0"/>
                  </a:moveTo>
                  <a:lnTo>
                    <a:pt x="1974305" y="0"/>
                  </a:lnTo>
                  <a:lnTo>
                    <a:pt x="1974305" y="1938274"/>
                  </a:lnTo>
                  <a:lnTo>
                    <a:pt x="0" y="1938274"/>
                  </a:lnTo>
                  <a:lnTo>
                    <a:pt x="0" y="0"/>
                  </a:lnTo>
                  <a:close/>
                </a:path>
              </a:pathLst>
            </a:custGeom>
            <a:blipFill>
              <a:blip r:embed="rId5"/>
              <a:stretch>
                <a:fillRect t="-931" b="-928"/>
              </a:stretch>
            </a:blipFill>
          </p:spPr>
          <p:txBody>
            <a:bodyPr/>
            <a:lstStyle/>
            <a:p>
              <a:endParaRPr lang="en-IN"/>
            </a:p>
          </p:txBody>
        </p:sp>
      </p:grpSp>
      <p:sp>
        <p:nvSpPr>
          <p:cNvPr id="38" name="Freeform 38"/>
          <p:cNvSpPr/>
          <p:nvPr/>
        </p:nvSpPr>
        <p:spPr>
          <a:xfrm>
            <a:off x="9774506" y="2291028"/>
            <a:ext cx="8453787" cy="6654900"/>
          </a:xfrm>
          <a:custGeom>
            <a:avLst/>
            <a:gdLst/>
            <a:ahLst/>
            <a:cxnLst/>
            <a:rect l="l" t="t" r="r" b="b"/>
            <a:pathLst>
              <a:path w="7860552" h="4557329">
                <a:moveTo>
                  <a:pt x="0" y="0"/>
                </a:moveTo>
                <a:lnTo>
                  <a:pt x="7860552" y="0"/>
                </a:lnTo>
                <a:lnTo>
                  <a:pt x="7860552" y="4557329"/>
                </a:lnTo>
                <a:lnTo>
                  <a:pt x="0" y="4557329"/>
                </a:lnTo>
                <a:lnTo>
                  <a:pt x="0" y="0"/>
                </a:lnTo>
                <a:close/>
              </a:path>
            </a:pathLst>
          </a:custGeom>
          <a:blipFill>
            <a:blip r:embed="rId6"/>
            <a:stretch>
              <a:fillRect l="-4053" t="-24310" r="-4053"/>
            </a:stretch>
          </a:blipFill>
        </p:spPr>
        <p:txBody>
          <a:bodyPr/>
          <a:lstStyle/>
          <a:p>
            <a:endParaRPr lang="en-IN"/>
          </a:p>
        </p:txBody>
      </p:sp>
      <p:sp>
        <p:nvSpPr>
          <p:cNvPr id="64" name="TextBox 63">
            <a:extLst>
              <a:ext uri="{FF2B5EF4-FFF2-40B4-BE49-F238E27FC236}">
                <a16:creationId xmlns:a16="http://schemas.microsoft.com/office/drawing/2014/main" id="{15AE9841-9492-A30C-36D6-926FDF1C292F}"/>
              </a:ext>
            </a:extLst>
          </p:cNvPr>
          <p:cNvSpPr txBox="1"/>
          <p:nvPr/>
        </p:nvSpPr>
        <p:spPr>
          <a:xfrm>
            <a:off x="330273" y="2110988"/>
            <a:ext cx="8453787" cy="523220"/>
          </a:xfrm>
          <a:prstGeom prst="rect">
            <a:avLst/>
          </a:prstGeom>
          <a:noFill/>
        </p:spPr>
        <p:txBody>
          <a:bodyPr wrap="square">
            <a:spAutoFit/>
          </a:bodyPr>
          <a:lstStyle/>
          <a:p>
            <a:r>
              <a:rPr lang="en-IN" sz="2800" b="1" dirty="0">
                <a:solidFill>
                  <a:schemeClr val="tx2"/>
                </a:solidFill>
              </a:rPr>
              <a:t>🎯</a:t>
            </a:r>
            <a:r>
              <a:rPr lang="en-IN" sz="2800" b="1" u="sng" dirty="0">
                <a:solidFill>
                  <a:schemeClr val="tx2"/>
                </a:solidFill>
              </a:rPr>
              <a:t> FROM LEARNING TO COMPETENCY</a:t>
            </a:r>
          </a:p>
        </p:txBody>
      </p:sp>
      <p:sp>
        <p:nvSpPr>
          <p:cNvPr id="66" name="Rounded Rectangle 7">
            <a:extLst>
              <a:ext uri="{FF2B5EF4-FFF2-40B4-BE49-F238E27FC236}">
                <a16:creationId xmlns:a16="http://schemas.microsoft.com/office/drawing/2014/main" id="{ED94F2AB-892B-80CA-54B0-1176ED1E6F43}"/>
              </a:ext>
            </a:extLst>
          </p:cNvPr>
          <p:cNvSpPr/>
          <p:nvPr/>
        </p:nvSpPr>
        <p:spPr>
          <a:xfrm>
            <a:off x="389465" y="2755355"/>
            <a:ext cx="8453787" cy="715171"/>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1" dirty="0">
                <a:solidFill>
                  <a:srgbClr val="194691"/>
                </a:solidFill>
                <a:latin typeface="Aptos"/>
              </a:rPr>
              <a:t>Measure what officers can actually apply — not just what they complete.</a:t>
            </a:r>
          </a:p>
        </p:txBody>
      </p:sp>
      <p:sp>
        <p:nvSpPr>
          <p:cNvPr id="67" name="TextBox 66">
            <a:extLst>
              <a:ext uri="{FF2B5EF4-FFF2-40B4-BE49-F238E27FC236}">
                <a16:creationId xmlns:a16="http://schemas.microsoft.com/office/drawing/2014/main" id="{615C5DE8-4991-5F42-746D-10E7013B75AC}"/>
              </a:ext>
            </a:extLst>
          </p:cNvPr>
          <p:cNvSpPr txBox="1"/>
          <p:nvPr/>
        </p:nvSpPr>
        <p:spPr>
          <a:xfrm>
            <a:off x="330273" y="3548716"/>
            <a:ext cx="3698845" cy="523220"/>
          </a:xfrm>
          <a:prstGeom prst="rect">
            <a:avLst/>
          </a:prstGeom>
          <a:noFill/>
        </p:spPr>
        <p:txBody>
          <a:bodyPr wrap="square" rtlCol="0">
            <a:spAutoFit/>
          </a:bodyPr>
          <a:lstStyle/>
          <a:p>
            <a:r>
              <a:rPr lang="en-IN" sz="2800" b="1" dirty="0">
                <a:solidFill>
                  <a:schemeClr val="tx2"/>
                </a:solidFill>
              </a:rPr>
              <a:t>👤</a:t>
            </a:r>
            <a:r>
              <a:rPr lang="en-IN" sz="2800" b="1" u="sng" dirty="0">
                <a:solidFill>
                  <a:schemeClr val="tx2"/>
                </a:solidFill>
              </a:rPr>
              <a:t> FOR THE OFFICER</a:t>
            </a:r>
          </a:p>
        </p:txBody>
      </p:sp>
      <p:sp>
        <p:nvSpPr>
          <p:cNvPr id="69" name="Rounded Rectangle 7">
            <a:extLst>
              <a:ext uri="{FF2B5EF4-FFF2-40B4-BE49-F238E27FC236}">
                <a16:creationId xmlns:a16="http://schemas.microsoft.com/office/drawing/2014/main" id="{7B3D635D-6CE3-A44E-4B27-22D96E1AE197}"/>
              </a:ext>
            </a:extLst>
          </p:cNvPr>
          <p:cNvSpPr/>
          <p:nvPr/>
        </p:nvSpPr>
        <p:spPr>
          <a:xfrm>
            <a:off x="330273" y="4123939"/>
            <a:ext cx="8453787" cy="1296862"/>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marL="228600" indent="-228600" algn="l">
              <a:buFont typeface="Arial"/>
              <a:buChar char="•"/>
            </a:pPr>
            <a:r>
              <a:rPr lang="en-US" sz="1400" b="1" dirty="0">
                <a:solidFill>
                  <a:srgbClr val="194691"/>
                </a:solidFill>
                <a:latin typeface="Aptos"/>
              </a:rPr>
              <a:t>Personalized learning based on actual competency gaps.</a:t>
            </a:r>
          </a:p>
          <a:p>
            <a:pPr marL="228600" indent="-228600" algn="l">
              <a:buFont typeface="Arial"/>
              <a:buChar char="•"/>
            </a:pPr>
            <a:r>
              <a:rPr lang="en-US" sz="1400" b="1" dirty="0">
                <a:solidFill>
                  <a:srgbClr val="194691"/>
                </a:solidFill>
                <a:latin typeface="Aptos"/>
              </a:rPr>
              <a:t>Targeted upskilling instead of one-size-fits-all training.</a:t>
            </a:r>
          </a:p>
          <a:p>
            <a:pPr marL="228600" indent="-228600" algn="l">
              <a:buFont typeface="Arial"/>
              <a:buChar char="•"/>
            </a:pPr>
            <a:r>
              <a:rPr lang="en-US" sz="1400" b="1" dirty="0">
                <a:solidFill>
                  <a:srgbClr val="194691"/>
                </a:solidFill>
                <a:latin typeface="Aptos"/>
              </a:rPr>
              <a:t>Continuous feedback through reassessment and progress tracking.</a:t>
            </a:r>
          </a:p>
          <a:p>
            <a:pPr marL="228600" indent="-228600" algn="l">
              <a:buFont typeface="Arial"/>
              <a:buChar char="•"/>
            </a:pPr>
            <a:r>
              <a:rPr lang="en-US" sz="1400" b="1" dirty="0">
                <a:solidFill>
                  <a:srgbClr val="194691"/>
                </a:solidFill>
                <a:latin typeface="Aptos"/>
              </a:rPr>
              <a:t>Clear visibility of strengths, gaps and improvement.</a:t>
            </a:r>
          </a:p>
        </p:txBody>
      </p:sp>
      <p:sp>
        <p:nvSpPr>
          <p:cNvPr id="71" name="TextBox 70">
            <a:extLst>
              <a:ext uri="{FF2B5EF4-FFF2-40B4-BE49-F238E27FC236}">
                <a16:creationId xmlns:a16="http://schemas.microsoft.com/office/drawing/2014/main" id="{E981E771-23A0-86CD-9269-5BBD7345EE61}"/>
              </a:ext>
            </a:extLst>
          </p:cNvPr>
          <p:cNvSpPr txBox="1"/>
          <p:nvPr/>
        </p:nvSpPr>
        <p:spPr>
          <a:xfrm>
            <a:off x="266805" y="5489881"/>
            <a:ext cx="9507701" cy="523220"/>
          </a:xfrm>
          <a:prstGeom prst="rect">
            <a:avLst/>
          </a:prstGeom>
          <a:noFill/>
        </p:spPr>
        <p:txBody>
          <a:bodyPr wrap="square">
            <a:spAutoFit/>
          </a:bodyPr>
          <a:lstStyle/>
          <a:p>
            <a:r>
              <a:rPr lang="en-IN" sz="2800" b="1" dirty="0">
                <a:solidFill>
                  <a:schemeClr val="tx2"/>
                </a:solidFill>
              </a:rPr>
              <a:t>🏛️</a:t>
            </a:r>
            <a:r>
              <a:rPr lang="en-IN" sz="2800" b="1" u="sng" dirty="0">
                <a:solidFill>
                  <a:schemeClr val="tx2"/>
                </a:solidFill>
              </a:rPr>
              <a:t> FOR THE ORGANISATION</a:t>
            </a:r>
          </a:p>
        </p:txBody>
      </p:sp>
      <p:sp>
        <p:nvSpPr>
          <p:cNvPr id="73" name="Rounded Rectangle 7">
            <a:extLst>
              <a:ext uri="{FF2B5EF4-FFF2-40B4-BE49-F238E27FC236}">
                <a16:creationId xmlns:a16="http://schemas.microsoft.com/office/drawing/2014/main" id="{A384E892-8BB7-6FE6-64B3-19F22231F4D1}"/>
              </a:ext>
            </a:extLst>
          </p:cNvPr>
          <p:cNvSpPr/>
          <p:nvPr/>
        </p:nvSpPr>
        <p:spPr>
          <a:xfrm>
            <a:off x="330273" y="6082181"/>
            <a:ext cx="8453787" cy="1017596"/>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marL="228600" indent="-228600" algn="l">
              <a:buFont typeface="Arial"/>
              <a:buChar char="•"/>
            </a:pPr>
            <a:r>
              <a:rPr lang="en-US" sz="1400" b="1" dirty="0">
                <a:solidFill>
                  <a:srgbClr val="194691"/>
                </a:solidFill>
                <a:latin typeface="Aptos"/>
              </a:rPr>
              <a:t>Right skills for the right roles.</a:t>
            </a:r>
          </a:p>
          <a:p>
            <a:pPr marL="228600" indent="-228600" algn="l">
              <a:buFont typeface="Arial"/>
              <a:buChar char="•"/>
            </a:pPr>
            <a:r>
              <a:rPr lang="en-US" sz="1400" b="1" dirty="0">
                <a:solidFill>
                  <a:srgbClr val="194691"/>
                </a:solidFill>
                <a:latin typeface="Aptos"/>
              </a:rPr>
              <a:t>Data-driven training decisions.</a:t>
            </a:r>
          </a:p>
          <a:p>
            <a:pPr marL="228600" indent="-228600" algn="l">
              <a:buFont typeface="Arial"/>
              <a:buChar char="•"/>
            </a:pPr>
            <a:r>
              <a:rPr lang="en-US" sz="1400" b="1" dirty="0">
                <a:solidFill>
                  <a:srgbClr val="194691"/>
                </a:solidFill>
                <a:latin typeface="Aptos"/>
              </a:rPr>
              <a:t>Measurable competency improvement.</a:t>
            </a:r>
          </a:p>
          <a:p>
            <a:pPr marL="228600" indent="-228600" algn="l">
              <a:buFont typeface="Arial"/>
              <a:buChar char="•"/>
            </a:pPr>
            <a:r>
              <a:rPr lang="en-US" sz="1400" b="1" dirty="0">
                <a:solidFill>
                  <a:srgbClr val="194691"/>
                </a:solidFill>
                <a:latin typeface="Aptos"/>
              </a:rPr>
              <a:t>Better alignment of learning with departmental priorities.</a:t>
            </a:r>
          </a:p>
        </p:txBody>
      </p:sp>
      <p:sp>
        <p:nvSpPr>
          <p:cNvPr id="75" name="TextBox 74">
            <a:extLst>
              <a:ext uri="{FF2B5EF4-FFF2-40B4-BE49-F238E27FC236}">
                <a16:creationId xmlns:a16="http://schemas.microsoft.com/office/drawing/2014/main" id="{40D8142D-1809-6F4C-A299-46782BE6FECA}"/>
              </a:ext>
            </a:extLst>
          </p:cNvPr>
          <p:cNvSpPr txBox="1"/>
          <p:nvPr/>
        </p:nvSpPr>
        <p:spPr>
          <a:xfrm>
            <a:off x="337871" y="7099777"/>
            <a:ext cx="4323109" cy="523220"/>
          </a:xfrm>
          <a:prstGeom prst="rect">
            <a:avLst/>
          </a:prstGeom>
          <a:noFill/>
        </p:spPr>
        <p:txBody>
          <a:bodyPr wrap="square">
            <a:spAutoFit/>
          </a:bodyPr>
          <a:lstStyle/>
          <a:p>
            <a:r>
              <a:rPr lang="en-IN" sz="2800" b="1" dirty="0">
                <a:solidFill>
                  <a:schemeClr val="tx2"/>
                </a:solidFill>
              </a:rPr>
              <a:t>📊</a:t>
            </a:r>
            <a:r>
              <a:rPr lang="en-IN" sz="2800" b="1" u="sng" dirty="0">
                <a:solidFill>
                  <a:schemeClr val="tx2"/>
                </a:solidFill>
              </a:rPr>
              <a:t> FOR GOVERNANCE</a:t>
            </a:r>
          </a:p>
        </p:txBody>
      </p:sp>
      <p:sp>
        <p:nvSpPr>
          <p:cNvPr id="77" name="Rounded Rectangle 7">
            <a:extLst>
              <a:ext uri="{FF2B5EF4-FFF2-40B4-BE49-F238E27FC236}">
                <a16:creationId xmlns:a16="http://schemas.microsoft.com/office/drawing/2014/main" id="{A35EEBCA-E332-4AC6-F7AA-893FAA66D276}"/>
              </a:ext>
            </a:extLst>
          </p:cNvPr>
          <p:cNvSpPr/>
          <p:nvPr/>
        </p:nvSpPr>
        <p:spPr>
          <a:xfrm>
            <a:off x="389465" y="7753190"/>
            <a:ext cx="8453787" cy="1327117"/>
          </a:xfrm>
          <a:prstGeom prst="roundRect">
            <a:avLst>
              <a:gd name="adj" fmla="val 16667"/>
            </a:avLst>
          </a:prstGeom>
          <a:solidFill>
            <a:srgbClr val="E8F0FF"/>
          </a:solidFill>
          <a:ln>
            <a:solidFill>
              <a:srgbClr val="BED2F5"/>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marL="228600" indent="-228600" algn="l">
              <a:buFont typeface="Arial"/>
              <a:buChar char="•"/>
            </a:pPr>
            <a:r>
              <a:rPr lang="en-US" sz="1400" b="1" dirty="0">
                <a:solidFill>
                  <a:srgbClr val="194691"/>
                </a:solidFill>
                <a:latin typeface="Aptos"/>
              </a:rPr>
              <a:t>More capable and future-ready workforce.</a:t>
            </a:r>
          </a:p>
          <a:p>
            <a:pPr marL="228600" indent="-228600" algn="l">
              <a:buFont typeface="Arial"/>
              <a:buChar char="•"/>
            </a:pPr>
            <a:r>
              <a:rPr lang="en-US" sz="1400" b="1" dirty="0">
                <a:solidFill>
                  <a:srgbClr val="194691"/>
                </a:solidFill>
                <a:latin typeface="Aptos"/>
              </a:rPr>
              <a:t>Stronger application of statistical competencies.</a:t>
            </a:r>
          </a:p>
          <a:p>
            <a:pPr marL="228600" indent="-228600" algn="l">
              <a:buFont typeface="Arial"/>
              <a:buChar char="•"/>
            </a:pPr>
            <a:r>
              <a:rPr lang="en-US" sz="1400" b="1" dirty="0">
                <a:solidFill>
                  <a:srgbClr val="194691"/>
                </a:solidFill>
                <a:latin typeface="Aptos"/>
              </a:rPr>
              <a:t>Continuous capacity building at scale.</a:t>
            </a:r>
          </a:p>
          <a:p>
            <a:pPr marL="228600" indent="-228600" algn="l">
              <a:buFont typeface="Arial"/>
              <a:buChar char="•"/>
            </a:pPr>
            <a:r>
              <a:rPr lang="en-US" sz="1400" b="1" dirty="0">
                <a:solidFill>
                  <a:srgbClr val="194691"/>
                </a:solidFill>
                <a:latin typeface="Aptos"/>
              </a:rPr>
              <a:t>Improved effectiveness of public-service delivery.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a:p>
          </p:txBody>
        </p:sp>
      </p:grpSp>
      <p:grpSp>
        <p:nvGrpSpPr>
          <p:cNvPr id="4" name="Group 4"/>
          <p:cNvGrpSpPr/>
          <p:nvPr/>
        </p:nvGrpSpPr>
        <p:grpSpPr>
          <a:xfrm>
            <a:off x="606313" y="-182625"/>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txBody>
            <a:bodyPr/>
            <a:lstStyle/>
            <a:p>
              <a:endParaRPr lang="en-IN"/>
            </a:p>
          </p:txBody>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RESEARCH  AND REFERENCES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3">
                <a:alphaModFix amt="0"/>
              </a:blip>
              <a:stretch>
                <a:fillRect t="-101813" b="-101813"/>
              </a:stretch>
            </a:blipFill>
          </p:spPr>
          <p:txBody>
            <a:bodyPr/>
            <a:lstStyle/>
            <a:p>
              <a:endParaRPr lang="en-IN"/>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6</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txBody>
            <a:bodyPr/>
            <a:lstStyle/>
            <a:p>
              <a:endParaRPr lang="en-IN"/>
            </a:p>
          </p:txBody>
        </p:sp>
        <p:sp>
          <p:nvSpPr>
            <p:cNvPr id="12" name="TextBox 12"/>
            <p:cNvSpPr txBox="1"/>
            <p:nvPr/>
          </p:nvSpPr>
          <p:spPr>
            <a:xfrm>
              <a:off x="0" y="-9525"/>
              <a:ext cx="6408001" cy="739775"/>
            </a:xfrm>
            <a:prstGeom prst="rect">
              <a:avLst/>
            </a:prstGeom>
          </p:spPr>
          <p:txBody>
            <a:bodyPr lIns="0" tIns="0" rIns="0" bIns="0" rtlCol="0" anchor="ctr"/>
            <a:lstStyle/>
            <a:p>
              <a:pPr algn="ctr">
                <a:lnSpc>
                  <a:spcPts val="1620"/>
                </a:lnSpc>
              </a:pPr>
              <a:r>
                <a:rPr lang="en-US" sz="1350">
                  <a:solidFill>
                    <a:srgbClr val="586570"/>
                  </a:solidFill>
                  <a:latin typeface="Aptos"/>
                  <a:ea typeface="Aptos"/>
                  <a:cs typeface="Aptos"/>
                  <a:sym typeface="Aptos"/>
                </a:rPr>
                <a:t>SMART INDIA HACKATHON 2026</a:t>
              </a:r>
            </a:p>
          </p:txBody>
        </p:sp>
      </p:grpSp>
      <p:grpSp>
        <p:nvGrpSpPr>
          <p:cNvPr id="13" name="Group 13"/>
          <p:cNvGrpSpPr/>
          <p:nvPr/>
        </p:nvGrpSpPr>
        <p:grpSpPr>
          <a:xfrm>
            <a:off x="14670129" y="2248"/>
            <a:ext cx="3374774" cy="1593504"/>
            <a:chOff x="0" y="0"/>
            <a:chExt cx="4499699" cy="2124672"/>
          </a:xfrm>
        </p:grpSpPr>
        <p:sp>
          <p:nvSpPr>
            <p:cNvPr id="14" name="Freeform 14"/>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txBody>
            <a:bodyPr/>
            <a:lstStyle/>
            <a:p>
              <a:endParaRPr lang="en-IN"/>
            </a:p>
          </p:txBody>
        </p:sp>
      </p:grpSp>
      <p:grpSp>
        <p:nvGrpSpPr>
          <p:cNvPr id="15" name="Group 15"/>
          <p:cNvGrpSpPr/>
          <p:nvPr/>
        </p:nvGrpSpPr>
        <p:grpSpPr>
          <a:xfrm>
            <a:off x="243097" y="189405"/>
            <a:ext cx="1500559" cy="1453658"/>
            <a:chOff x="0" y="0"/>
            <a:chExt cx="2000745" cy="1938210"/>
          </a:xfrm>
        </p:grpSpPr>
        <p:sp>
          <p:nvSpPr>
            <p:cNvPr id="16" name="Freeform 16"/>
            <p:cNvSpPr/>
            <p:nvPr/>
          </p:nvSpPr>
          <p:spPr>
            <a:xfrm>
              <a:off x="0" y="0"/>
              <a:ext cx="2000758" cy="1938274"/>
            </a:xfrm>
            <a:custGeom>
              <a:avLst/>
              <a:gdLst/>
              <a:ahLst/>
              <a:cxnLst/>
              <a:rect l="l" t="t" r="r" b="b"/>
              <a:pathLst>
                <a:path w="2000758" h="1938274">
                  <a:moveTo>
                    <a:pt x="0" y="0"/>
                  </a:moveTo>
                  <a:lnTo>
                    <a:pt x="2000758" y="0"/>
                  </a:lnTo>
                  <a:lnTo>
                    <a:pt x="2000758" y="1938274"/>
                  </a:lnTo>
                  <a:lnTo>
                    <a:pt x="0" y="1938274"/>
                  </a:lnTo>
                  <a:lnTo>
                    <a:pt x="0" y="0"/>
                  </a:lnTo>
                  <a:close/>
                </a:path>
              </a:pathLst>
            </a:custGeom>
            <a:blipFill>
              <a:blip r:embed="rId5"/>
              <a:stretch>
                <a:fillRect t="-1613" b="-1609"/>
              </a:stretch>
            </a:blipFill>
          </p:spPr>
          <p:txBody>
            <a:bodyPr/>
            <a:lstStyle/>
            <a:p>
              <a:endParaRPr lang="en-IN"/>
            </a:p>
          </p:txBody>
        </p:sp>
      </p:grpSp>
      <p:sp>
        <p:nvSpPr>
          <p:cNvPr id="17" name="TextBox 17"/>
          <p:cNvSpPr txBox="1"/>
          <p:nvPr/>
        </p:nvSpPr>
        <p:spPr>
          <a:xfrm>
            <a:off x="845820" y="1856232"/>
            <a:ext cx="16276320" cy="346249"/>
          </a:xfrm>
          <a:prstGeom prst="rect">
            <a:avLst/>
          </a:prstGeom>
        </p:spPr>
        <p:txBody>
          <a:bodyPr lIns="0" tIns="0" rIns="0" bIns="0" rtlCol="0" anchor="t">
            <a:spAutoFit/>
          </a:bodyPr>
          <a:lstStyle/>
          <a:p>
            <a:pPr algn="l">
              <a:lnSpc>
                <a:spcPts val="2700"/>
              </a:lnSpc>
            </a:pPr>
            <a:r>
              <a:rPr lang="en-US" sz="2250" b="1" u="sng" dirty="0">
                <a:solidFill>
                  <a:srgbClr val="234E7D"/>
                </a:solidFill>
                <a:latin typeface="Aptos Bold"/>
                <a:ea typeface="Aptos Bold"/>
                <a:cs typeface="Aptos Bold"/>
                <a:sym typeface="Aptos Bold"/>
              </a:rPr>
              <a:t>REFERENCE BASE LINKS-:</a:t>
            </a:r>
          </a:p>
        </p:txBody>
      </p:sp>
      <p:grpSp>
        <p:nvGrpSpPr>
          <p:cNvPr id="22" name="Group 22"/>
          <p:cNvGrpSpPr/>
          <p:nvPr/>
        </p:nvGrpSpPr>
        <p:grpSpPr>
          <a:xfrm>
            <a:off x="693770" y="3596848"/>
            <a:ext cx="3884469" cy="827465"/>
            <a:chOff x="0" y="0"/>
            <a:chExt cx="4876800" cy="1164336"/>
          </a:xfrm>
        </p:grpSpPr>
        <p:sp>
          <p:nvSpPr>
            <p:cNvPr id="23" name="Freeform 23"/>
            <p:cNvSpPr/>
            <p:nvPr/>
          </p:nvSpPr>
          <p:spPr>
            <a:xfrm>
              <a:off x="0" y="0"/>
              <a:ext cx="4876800" cy="1164336"/>
            </a:xfrm>
            <a:custGeom>
              <a:avLst/>
              <a:gdLst/>
              <a:ahLst/>
              <a:cxnLst/>
              <a:rect l="l" t="t" r="r" b="b"/>
              <a:pathLst>
                <a:path w="4876800" h="1164336">
                  <a:moveTo>
                    <a:pt x="0" y="194056"/>
                  </a:moveTo>
                  <a:cubicBezTo>
                    <a:pt x="0" y="86868"/>
                    <a:pt x="86868" y="0"/>
                    <a:pt x="194056" y="0"/>
                  </a:cubicBezTo>
                  <a:lnTo>
                    <a:pt x="4682744" y="0"/>
                  </a:lnTo>
                  <a:cubicBezTo>
                    <a:pt x="4789932" y="0"/>
                    <a:pt x="4876800" y="86868"/>
                    <a:pt x="4876800" y="194056"/>
                  </a:cubicBezTo>
                  <a:lnTo>
                    <a:pt x="4876800" y="970280"/>
                  </a:lnTo>
                  <a:cubicBezTo>
                    <a:pt x="4876800" y="1077468"/>
                    <a:pt x="4789932" y="1164336"/>
                    <a:pt x="4682744" y="1164336"/>
                  </a:cubicBezTo>
                  <a:lnTo>
                    <a:pt x="194056" y="1164336"/>
                  </a:lnTo>
                  <a:cubicBezTo>
                    <a:pt x="86868" y="1164336"/>
                    <a:pt x="0" y="1077468"/>
                    <a:pt x="0" y="970280"/>
                  </a:cubicBezTo>
                  <a:close/>
                </a:path>
              </a:pathLst>
            </a:custGeom>
            <a:solidFill>
              <a:srgbClr val="F4F7F9"/>
            </a:solidFill>
            <a:ln w="22860" cap="sq">
              <a:solidFill>
                <a:srgbClr val="D7E0E6"/>
              </a:solidFill>
              <a:prstDash val="solid"/>
              <a:miter/>
            </a:ln>
          </p:spPr>
          <p:txBody>
            <a:bodyPr/>
            <a:lstStyle/>
            <a:p>
              <a:endParaRPr lang="en-IN" dirty="0"/>
            </a:p>
          </p:txBody>
        </p:sp>
      </p:grpSp>
      <p:sp>
        <p:nvSpPr>
          <p:cNvPr id="24" name="TextBox 24"/>
          <p:cNvSpPr txBox="1"/>
          <p:nvPr/>
        </p:nvSpPr>
        <p:spPr>
          <a:xfrm>
            <a:off x="845820" y="3735998"/>
            <a:ext cx="12024360" cy="511615"/>
          </a:xfrm>
          <a:prstGeom prst="rect">
            <a:avLst/>
          </a:prstGeom>
        </p:spPr>
        <p:txBody>
          <a:bodyPr lIns="0" tIns="0" rIns="0" bIns="0" rtlCol="0" anchor="t">
            <a:spAutoFit/>
          </a:bodyPr>
          <a:lstStyle/>
          <a:p>
            <a:pPr algn="l">
              <a:lnSpc>
                <a:spcPts val="1889"/>
              </a:lnSpc>
            </a:pPr>
            <a:r>
              <a:rPr lang="en-US" sz="2400" b="1" dirty="0">
                <a:solidFill>
                  <a:srgbClr val="234E7D"/>
                </a:solidFill>
                <a:latin typeface="Aptos Bold"/>
                <a:ea typeface="Aptos Bold"/>
                <a:cs typeface="Aptos Bold"/>
                <a:sym typeface="Aptos Bold"/>
              </a:rPr>
              <a:t>iGOT Karmayogi — Official</a:t>
            </a:r>
          </a:p>
          <a:p>
            <a:pPr algn="l">
              <a:lnSpc>
                <a:spcPts val="1889"/>
              </a:lnSpc>
            </a:pPr>
            <a:r>
              <a:rPr lang="en-US" sz="2400" b="1" dirty="0">
                <a:solidFill>
                  <a:srgbClr val="234E7D"/>
                </a:solidFill>
                <a:latin typeface="Aptos Bold"/>
                <a:ea typeface="Aptos Bold"/>
                <a:cs typeface="Aptos Bold"/>
                <a:sym typeface="Aptos Bold"/>
              </a:rPr>
              <a:t> Portal</a:t>
            </a:r>
          </a:p>
        </p:txBody>
      </p:sp>
      <p:grpSp>
        <p:nvGrpSpPr>
          <p:cNvPr id="30" name="Group 30"/>
          <p:cNvGrpSpPr/>
          <p:nvPr/>
        </p:nvGrpSpPr>
        <p:grpSpPr>
          <a:xfrm>
            <a:off x="698965" y="4677885"/>
            <a:ext cx="3989759" cy="689181"/>
            <a:chOff x="0" y="0"/>
            <a:chExt cx="4876800" cy="1164336"/>
          </a:xfrm>
        </p:grpSpPr>
        <p:sp>
          <p:nvSpPr>
            <p:cNvPr id="31" name="Freeform 31"/>
            <p:cNvSpPr/>
            <p:nvPr/>
          </p:nvSpPr>
          <p:spPr>
            <a:xfrm>
              <a:off x="0" y="0"/>
              <a:ext cx="4876800" cy="1164336"/>
            </a:xfrm>
            <a:custGeom>
              <a:avLst/>
              <a:gdLst/>
              <a:ahLst/>
              <a:cxnLst/>
              <a:rect l="l" t="t" r="r" b="b"/>
              <a:pathLst>
                <a:path w="4876800" h="1164336">
                  <a:moveTo>
                    <a:pt x="0" y="194056"/>
                  </a:moveTo>
                  <a:cubicBezTo>
                    <a:pt x="0" y="86868"/>
                    <a:pt x="86868" y="0"/>
                    <a:pt x="194056" y="0"/>
                  </a:cubicBezTo>
                  <a:lnTo>
                    <a:pt x="4682744" y="0"/>
                  </a:lnTo>
                  <a:cubicBezTo>
                    <a:pt x="4789932" y="0"/>
                    <a:pt x="4876800" y="86868"/>
                    <a:pt x="4876800" y="194056"/>
                  </a:cubicBezTo>
                  <a:lnTo>
                    <a:pt x="4876800" y="970280"/>
                  </a:lnTo>
                  <a:cubicBezTo>
                    <a:pt x="4876800" y="1077468"/>
                    <a:pt x="4789932" y="1164336"/>
                    <a:pt x="4682744" y="1164336"/>
                  </a:cubicBezTo>
                  <a:lnTo>
                    <a:pt x="194056" y="1164336"/>
                  </a:lnTo>
                  <a:cubicBezTo>
                    <a:pt x="86868" y="1164336"/>
                    <a:pt x="0" y="1077468"/>
                    <a:pt x="0" y="970280"/>
                  </a:cubicBezTo>
                  <a:close/>
                </a:path>
              </a:pathLst>
            </a:custGeom>
            <a:solidFill>
              <a:srgbClr val="F4F7F9"/>
            </a:solidFill>
            <a:ln w="22860" cap="sq">
              <a:solidFill>
                <a:srgbClr val="D7E0E6"/>
              </a:solidFill>
              <a:prstDash val="solid"/>
              <a:miter/>
            </a:ln>
          </p:spPr>
          <p:txBody>
            <a:bodyPr/>
            <a:lstStyle/>
            <a:p>
              <a:endParaRPr lang="en-IN"/>
            </a:p>
          </p:txBody>
        </p:sp>
      </p:grpSp>
      <p:sp>
        <p:nvSpPr>
          <p:cNvPr id="32" name="TextBox 32"/>
          <p:cNvSpPr txBox="1"/>
          <p:nvPr/>
        </p:nvSpPr>
        <p:spPr>
          <a:xfrm>
            <a:off x="901238" y="4905869"/>
            <a:ext cx="12024360" cy="267958"/>
          </a:xfrm>
          <a:prstGeom prst="rect">
            <a:avLst/>
          </a:prstGeom>
        </p:spPr>
        <p:txBody>
          <a:bodyPr lIns="0" tIns="0" rIns="0" bIns="0" rtlCol="0" anchor="t">
            <a:spAutoFit/>
          </a:bodyPr>
          <a:lstStyle/>
          <a:p>
            <a:pPr algn="l">
              <a:lnSpc>
                <a:spcPts val="1889"/>
              </a:lnSpc>
            </a:pPr>
            <a:r>
              <a:rPr lang="en-US" sz="2400" b="1" u="sng" dirty="0">
                <a:solidFill>
                  <a:srgbClr val="234E7D"/>
                </a:solidFill>
                <a:latin typeface="Aptos Bold"/>
                <a:ea typeface="Aptos Bold"/>
                <a:cs typeface="Aptos Bold"/>
                <a:sym typeface="Aptos Bold"/>
              </a:rPr>
              <a:t>Research </a:t>
            </a:r>
          </a:p>
        </p:txBody>
      </p:sp>
      <p:grpSp>
        <p:nvGrpSpPr>
          <p:cNvPr id="34" name="Group 34"/>
          <p:cNvGrpSpPr/>
          <p:nvPr/>
        </p:nvGrpSpPr>
        <p:grpSpPr>
          <a:xfrm>
            <a:off x="679913" y="5757203"/>
            <a:ext cx="3928450" cy="715505"/>
            <a:chOff x="0" y="0"/>
            <a:chExt cx="4876800" cy="1164336"/>
          </a:xfrm>
        </p:grpSpPr>
        <p:sp>
          <p:nvSpPr>
            <p:cNvPr id="35" name="Freeform 35"/>
            <p:cNvSpPr/>
            <p:nvPr/>
          </p:nvSpPr>
          <p:spPr>
            <a:xfrm>
              <a:off x="0" y="0"/>
              <a:ext cx="4876800" cy="1164336"/>
            </a:xfrm>
            <a:custGeom>
              <a:avLst/>
              <a:gdLst/>
              <a:ahLst/>
              <a:cxnLst/>
              <a:rect l="l" t="t" r="r" b="b"/>
              <a:pathLst>
                <a:path w="4876800" h="1164336">
                  <a:moveTo>
                    <a:pt x="0" y="194056"/>
                  </a:moveTo>
                  <a:cubicBezTo>
                    <a:pt x="0" y="86868"/>
                    <a:pt x="86868" y="0"/>
                    <a:pt x="194056" y="0"/>
                  </a:cubicBezTo>
                  <a:lnTo>
                    <a:pt x="4682744" y="0"/>
                  </a:lnTo>
                  <a:cubicBezTo>
                    <a:pt x="4789932" y="0"/>
                    <a:pt x="4876800" y="86868"/>
                    <a:pt x="4876800" y="194056"/>
                  </a:cubicBezTo>
                  <a:lnTo>
                    <a:pt x="4876800" y="970280"/>
                  </a:lnTo>
                  <a:cubicBezTo>
                    <a:pt x="4876800" y="1077468"/>
                    <a:pt x="4789932" y="1164336"/>
                    <a:pt x="4682744" y="1164336"/>
                  </a:cubicBezTo>
                  <a:lnTo>
                    <a:pt x="194056" y="1164336"/>
                  </a:lnTo>
                  <a:cubicBezTo>
                    <a:pt x="86868" y="1164336"/>
                    <a:pt x="0" y="1077468"/>
                    <a:pt x="0" y="970280"/>
                  </a:cubicBezTo>
                  <a:close/>
                </a:path>
              </a:pathLst>
            </a:custGeom>
            <a:solidFill>
              <a:srgbClr val="F4F7F9"/>
            </a:solidFill>
            <a:ln w="22860" cap="sq">
              <a:solidFill>
                <a:srgbClr val="D7E0E6"/>
              </a:solidFill>
              <a:prstDash val="solid"/>
              <a:miter/>
            </a:ln>
          </p:spPr>
          <p:txBody>
            <a:bodyPr/>
            <a:lstStyle/>
            <a:p>
              <a:endParaRPr lang="en-IN"/>
            </a:p>
          </p:txBody>
        </p:sp>
      </p:grpSp>
      <p:sp>
        <p:nvSpPr>
          <p:cNvPr id="36" name="TextBox 36"/>
          <p:cNvSpPr txBox="1"/>
          <p:nvPr/>
        </p:nvSpPr>
        <p:spPr>
          <a:xfrm>
            <a:off x="845820" y="5951178"/>
            <a:ext cx="3510746" cy="267958"/>
          </a:xfrm>
          <a:prstGeom prst="rect">
            <a:avLst/>
          </a:prstGeom>
        </p:spPr>
        <p:txBody>
          <a:bodyPr wrap="square" lIns="0" tIns="0" rIns="0" bIns="0" rtlCol="0" anchor="t">
            <a:spAutoFit/>
          </a:bodyPr>
          <a:lstStyle/>
          <a:p>
            <a:pPr>
              <a:lnSpc>
                <a:spcPts val="1889"/>
              </a:lnSpc>
            </a:pPr>
            <a:r>
              <a:rPr lang="en-US" sz="2400" u="sng" dirty="0" err="1">
                <a:solidFill>
                  <a:srgbClr val="234E7D"/>
                </a:solidFill>
                <a:latin typeface="Aptos Bold"/>
                <a:ea typeface="Aptos Bold"/>
                <a:cs typeface="Aptos Bold"/>
                <a:sym typeface="Aptos Bold"/>
              </a:rPr>
              <a:t>Github</a:t>
            </a:r>
            <a:r>
              <a:rPr lang="en-US" sz="2400" u="sng" dirty="0">
                <a:solidFill>
                  <a:srgbClr val="234E7D"/>
                </a:solidFill>
                <a:latin typeface="Aptos Bold"/>
                <a:ea typeface="Aptos Bold"/>
                <a:cs typeface="Aptos Bold"/>
                <a:sym typeface="Aptos Bold"/>
              </a:rPr>
              <a:t> Repository link</a:t>
            </a:r>
          </a:p>
        </p:txBody>
      </p:sp>
      <p:grpSp>
        <p:nvGrpSpPr>
          <p:cNvPr id="42" name="Group 42"/>
          <p:cNvGrpSpPr/>
          <p:nvPr/>
        </p:nvGrpSpPr>
        <p:grpSpPr>
          <a:xfrm>
            <a:off x="742950" y="8972550"/>
            <a:ext cx="16482060" cy="502920"/>
            <a:chOff x="0" y="0"/>
            <a:chExt cx="21976080" cy="670560"/>
          </a:xfrm>
        </p:grpSpPr>
        <p:sp>
          <p:nvSpPr>
            <p:cNvPr id="43" name="Freeform 43"/>
            <p:cNvSpPr/>
            <p:nvPr/>
          </p:nvSpPr>
          <p:spPr>
            <a:xfrm>
              <a:off x="0" y="0"/>
              <a:ext cx="21976080" cy="670560"/>
            </a:xfrm>
            <a:custGeom>
              <a:avLst/>
              <a:gdLst/>
              <a:ahLst/>
              <a:cxnLst/>
              <a:rect l="l" t="t" r="r" b="b"/>
              <a:pathLst>
                <a:path w="21976080" h="670560">
                  <a:moveTo>
                    <a:pt x="0" y="111760"/>
                  </a:moveTo>
                  <a:cubicBezTo>
                    <a:pt x="0" y="50038"/>
                    <a:pt x="50038" y="0"/>
                    <a:pt x="111760" y="0"/>
                  </a:cubicBezTo>
                  <a:lnTo>
                    <a:pt x="21864320" y="0"/>
                  </a:lnTo>
                  <a:cubicBezTo>
                    <a:pt x="21926042" y="0"/>
                    <a:pt x="21976080" y="50038"/>
                    <a:pt x="21976080" y="111760"/>
                  </a:cubicBezTo>
                  <a:lnTo>
                    <a:pt x="21976080" y="558800"/>
                  </a:lnTo>
                  <a:cubicBezTo>
                    <a:pt x="21976080" y="620522"/>
                    <a:pt x="21926042" y="670560"/>
                    <a:pt x="21864320" y="670560"/>
                  </a:cubicBezTo>
                  <a:lnTo>
                    <a:pt x="111760" y="670560"/>
                  </a:lnTo>
                  <a:cubicBezTo>
                    <a:pt x="50038" y="670560"/>
                    <a:pt x="0" y="620522"/>
                    <a:pt x="0" y="558800"/>
                  </a:cubicBezTo>
                  <a:close/>
                </a:path>
              </a:pathLst>
            </a:custGeom>
            <a:solidFill>
              <a:srgbClr val="FDF1E0"/>
            </a:solidFill>
            <a:ln w="22860" cap="sq">
              <a:solidFill>
                <a:srgbClr val="F28C28"/>
              </a:solidFill>
              <a:prstDash val="solid"/>
              <a:miter/>
            </a:ln>
          </p:spPr>
          <p:txBody>
            <a:bodyPr/>
            <a:lstStyle/>
            <a:p>
              <a:endParaRPr lang="en-IN"/>
            </a:p>
          </p:txBody>
        </p:sp>
        <p:sp>
          <p:nvSpPr>
            <p:cNvPr id="44" name="TextBox 44"/>
            <p:cNvSpPr txBox="1"/>
            <p:nvPr/>
          </p:nvSpPr>
          <p:spPr>
            <a:xfrm>
              <a:off x="0" y="0"/>
              <a:ext cx="21976080" cy="670560"/>
            </a:xfrm>
            <a:prstGeom prst="rect">
              <a:avLst/>
            </a:prstGeom>
          </p:spPr>
          <p:txBody>
            <a:bodyPr lIns="50800" tIns="50800" rIns="50800" bIns="50800" rtlCol="0" anchor="ctr"/>
            <a:lstStyle/>
            <a:p>
              <a:pPr algn="ctr">
                <a:lnSpc>
                  <a:spcPts val="1709"/>
                </a:lnSpc>
              </a:pPr>
              <a:r>
                <a:rPr lang="en-US" sz="1425" b="1" dirty="0">
                  <a:solidFill>
                    <a:srgbClr val="232D37"/>
                  </a:solidFill>
                  <a:latin typeface="Aptos Bold"/>
                  <a:ea typeface="Aptos Bold"/>
                  <a:cs typeface="Aptos Bold"/>
                  <a:sym typeface="Aptos Bold"/>
                </a:rPr>
                <a:t>Note: iGOT integration is proposed through approved interfaces; exact API/data-access mechanisms must be validated during implementation.</a:t>
              </a:r>
            </a:p>
          </p:txBody>
        </p:sp>
      </p:grpSp>
      <p:sp>
        <p:nvSpPr>
          <p:cNvPr id="29" name="TextBox 28">
            <a:extLst>
              <a:ext uri="{FF2B5EF4-FFF2-40B4-BE49-F238E27FC236}">
                <a16:creationId xmlns:a16="http://schemas.microsoft.com/office/drawing/2014/main" id="{38378573-9705-0243-C2DF-475A599D5042}"/>
              </a:ext>
            </a:extLst>
          </p:cNvPr>
          <p:cNvSpPr txBox="1"/>
          <p:nvPr/>
        </p:nvSpPr>
        <p:spPr>
          <a:xfrm>
            <a:off x="4688724" y="2687367"/>
            <a:ext cx="9144000" cy="461665"/>
          </a:xfrm>
          <a:prstGeom prst="rect">
            <a:avLst/>
          </a:prstGeom>
          <a:noFill/>
        </p:spPr>
        <p:txBody>
          <a:bodyPr wrap="square">
            <a:spAutoFit/>
          </a:bodyPr>
          <a:lstStyle/>
          <a:p>
            <a:r>
              <a:rPr lang="en-IN" sz="2400" dirty="0">
                <a:hlinkClick r:id="rId6"/>
              </a:rPr>
              <a:t>Smart India Hackathon</a:t>
            </a:r>
            <a:endParaRPr lang="en-IN" sz="2400" dirty="0"/>
          </a:p>
        </p:txBody>
      </p:sp>
      <p:sp>
        <p:nvSpPr>
          <p:cNvPr id="41" name="TextBox 40">
            <a:extLst>
              <a:ext uri="{FF2B5EF4-FFF2-40B4-BE49-F238E27FC236}">
                <a16:creationId xmlns:a16="http://schemas.microsoft.com/office/drawing/2014/main" id="{A21561C7-C05E-B826-E861-26F49B1806EE}"/>
              </a:ext>
            </a:extLst>
          </p:cNvPr>
          <p:cNvSpPr txBox="1"/>
          <p:nvPr/>
        </p:nvSpPr>
        <p:spPr>
          <a:xfrm>
            <a:off x="4688724" y="5892770"/>
            <a:ext cx="9144000" cy="461665"/>
          </a:xfrm>
          <a:prstGeom prst="rect">
            <a:avLst/>
          </a:prstGeom>
          <a:noFill/>
        </p:spPr>
        <p:txBody>
          <a:bodyPr wrap="square">
            <a:spAutoFit/>
          </a:bodyPr>
          <a:lstStyle/>
          <a:p>
            <a:r>
              <a:rPr lang="en-IN" sz="2400" dirty="0" err="1">
                <a:hlinkClick r:id="rId7"/>
              </a:rPr>
              <a:t>AdityaKymarSharmaAKS</a:t>
            </a:r>
            <a:r>
              <a:rPr lang="en-IN" sz="2400" dirty="0">
                <a:hlinkClick r:id="rId7"/>
              </a:rPr>
              <a:t>/SIH26101_Project</a:t>
            </a:r>
            <a:endParaRPr lang="en-IN" sz="2400" dirty="0"/>
          </a:p>
        </p:txBody>
      </p:sp>
      <p:sp>
        <p:nvSpPr>
          <p:cNvPr id="46" name="TextBox 45">
            <a:extLst>
              <a:ext uri="{FF2B5EF4-FFF2-40B4-BE49-F238E27FC236}">
                <a16:creationId xmlns:a16="http://schemas.microsoft.com/office/drawing/2014/main" id="{6053932F-C8C0-8249-1B2C-D51C6593771E}"/>
              </a:ext>
            </a:extLst>
          </p:cNvPr>
          <p:cNvSpPr txBox="1"/>
          <p:nvPr/>
        </p:nvSpPr>
        <p:spPr>
          <a:xfrm>
            <a:off x="4730289" y="3701005"/>
            <a:ext cx="9144000" cy="461665"/>
          </a:xfrm>
          <a:prstGeom prst="rect">
            <a:avLst/>
          </a:prstGeom>
          <a:noFill/>
        </p:spPr>
        <p:txBody>
          <a:bodyPr wrap="square">
            <a:spAutoFit/>
          </a:bodyPr>
          <a:lstStyle/>
          <a:p>
            <a:r>
              <a:rPr lang="en-IN" sz="2400" dirty="0" err="1">
                <a:hlinkClick r:id="rId8"/>
              </a:rPr>
              <a:t>iGot</a:t>
            </a:r>
            <a:endParaRPr lang="en-IN" sz="2400" dirty="0"/>
          </a:p>
        </p:txBody>
      </p:sp>
      <p:sp>
        <p:nvSpPr>
          <p:cNvPr id="48" name="TextBox 47">
            <a:extLst>
              <a:ext uri="{FF2B5EF4-FFF2-40B4-BE49-F238E27FC236}">
                <a16:creationId xmlns:a16="http://schemas.microsoft.com/office/drawing/2014/main" id="{EADD5EFE-398D-67CB-5493-5FB60B1F52D4}"/>
              </a:ext>
            </a:extLst>
          </p:cNvPr>
          <p:cNvSpPr txBox="1"/>
          <p:nvPr/>
        </p:nvSpPr>
        <p:spPr>
          <a:xfrm>
            <a:off x="4730289" y="4879132"/>
            <a:ext cx="9144000" cy="461665"/>
          </a:xfrm>
          <a:prstGeom prst="rect">
            <a:avLst/>
          </a:prstGeom>
          <a:noFill/>
        </p:spPr>
        <p:txBody>
          <a:bodyPr wrap="square">
            <a:spAutoFit/>
          </a:bodyPr>
          <a:lstStyle/>
          <a:p>
            <a:r>
              <a:rPr lang="en-IN" sz="2400" u="sng" dirty="0">
                <a:hlinkClick r:id="rId9"/>
              </a:rPr>
              <a:t>Karmayogi - Google Drive</a:t>
            </a:r>
            <a:endParaRPr lang="en-IN" sz="2400" u="sng" dirty="0"/>
          </a:p>
        </p:txBody>
      </p:sp>
      <p:grpSp>
        <p:nvGrpSpPr>
          <p:cNvPr id="49" name="Group 30">
            <a:extLst>
              <a:ext uri="{FF2B5EF4-FFF2-40B4-BE49-F238E27FC236}">
                <a16:creationId xmlns:a16="http://schemas.microsoft.com/office/drawing/2014/main" id="{0EF5F5FB-EB01-1463-135E-19C1C616293C}"/>
              </a:ext>
            </a:extLst>
          </p:cNvPr>
          <p:cNvGrpSpPr/>
          <p:nvPr/>
        </p:nvGrpSpPr>
        <p:grpSpPr>
          <a:xfrm>
            <a:off x="606313" y="2640839"/>
            <a:ext cx="3989759" cy="689181"/>
            <a:chOff x="0" y="0"/>
            <a:chExt cx="4876800" cy="1164336"/>
          </a:xfrm>
        </p:grpSpPr>
        <p:sp>
          <p:nvSpPr>
            <p:cNvPr id="50" name="Freeform 31">
              <a:extLst>
                <a:ext uri="{FF2B5EF4-FFF2-40B4-BE49-F238E27FC236}">
                  <a16:creationId xmlns:a16="http://schemas.microsoft.com/office/drawing/2014/main" id="{D241D84A-0364-A9FA-7F9D-16D9FA3164ED}"/>
                </a:ext>
              </a:extLst>
            </p:cNvPr>
            <p:cNvSpPr/>
            <p:nvPr/>
          </p:nvSpPr>
          <p:spPr>
            <a:xfrm>
              <a:off x="0" y="0"/>
              <a:ext cx="4876800" cy="1164336"/>
            </a:xfrm>
            <a:custGeom>
              <a:avLst/>
              <a:gdLst/>
              <a:ahLst/>
              <a:cxnLst/>
              <a:rect l="l" t="t" r="r" b="b"/>
              <a:pathLst>
                <a:path w="4876800" h="1164336">
                  <a:moveTo>
                    <a:pt x="0" y="194056"/>
                  </a:moveTo>
                  <a:cubicBezTo>
                    <a:pt x="0" y="86868"/>
                    <a:pt x="86868" y="0"/>
                    <a:pt x="194056" y="0"/>
                  </a:cubicBezTo>
                  <a:lnTo>
                    <a:pt x="4682744" y="0"/>
                  </a:lnTo>
                  <a:cubicBezTo>
                    <a:pt x="4789932" y="0"/>
                    <a:pt x="4876800" y="86868"/>
                    <a:pt x="4876800" y="194056"/>
                  </a:cubicBezTo>
                  <a:lnTo>
                    <a:pt x="4876800" y="970280"/>
                  </a:lnTo>
                  <a:cubicBezTo>
                    <a:pt x="4876800" y="1077468"/>
                    <a:pt x="4789932" y="1164336"/>
                    <a:pt x="4682744" y="1164336"/>
                  </a:cubicBezTo>
                  <a:lnTo>
                    <a:pt x="194056" y="1164336"/>
                  </a:lnTo>
                  <a:cubicBezTo>
                    <a:pt x="86868" y="1164336"/>
                    <a:pt x="0" y="1077468"/>
                    <a:pt x="0" y="970280"/>
                  </a:cubicBezTo>
                  <a:close/>
                </a:path>
              </a:pathLst>
            </a:custGeom>
            <a:solidFill>
              <a:srgbClr val="F4F7F9"/>
            </a:solidFill>
            <a:ln w="22860" cap="sq">
              <a:solidFill>
                <a:srgbClr val="D7E0E6"/>
              </a:solidFill>
              <a:prstDash val="solid"/>
              <a:miter/>
            </a:ln>
          </p:spPr>
          <p:txBody>
            <a:bodyPr/>
            <a:lstStyle/>
            <a:p>
              <a:endParaRPr lang="en-IN"/>
            </a:p>
          </p:txBody>
        </p:sp>
      </p:grpSp>
      <p:sp>
        <p:nvSpPr>
          <p:cNvPr id="52" name="TextBox 51">
            <a:extLst>
              <a:ext uri="{FF2B5EF4-FFF2-40B4-BE49-F238E27FC236}">
                <a16:creationId xmlns:a16="http://schemas.microsoft.com/office/drawing/2014/main" id="{118C86A4-6AD9-9944-951C-14963F9663B9}"/>
              </a:ext>
            </a:extLst>
          </p:cNvPr>
          <p:cNvSpPr txBox="1"/>
          <p:nvPr/>
        </p:nvSpPr>
        <p:spPr>
          <a:xfrm>
            <a:off x="693770" y="2745466"/>
            <a:ext cx="9144000" cy="603948"/>
          </a:xfrm>
          <a:prstGeom prst="rect">
            <a:avLst/>
          </a:prstGeom>
          <a:noFill/>
        </p:spPr>
        <p:txBody>
          <a:bodyPr wrap="square">
            <a:spAutoFit/>
          </a:bodyPr>
          <a:lstStyle/>
          <a:p>
            <a:pPr>
              <a:lnSpc>
                <a:spcPts val="1889"/>
              </a:lnSpc>
            </a:pPr>
            <a:r>
              <a:rPr lang="en-US" sz="2400" b="1" dirty="0">
                <a:solidFill>
                  <a:srgbClr val="234E7D"/>
                </a:solidFill>
                <a:latin typeface="Aptos Bold"/>
                <a:ea typeface="Aptos Bold"/>
                <a:cs typeface="Aptos Bold"/>
                <a:sym typeface="Aptos Bold"/>
              </a:rPr>
              <a:t>SIH2026 Idea Submission</a:t>
            </a:r>
          </a:p>
          <a:p>
            <a:pPr>
              <a:lnSpc>
                <a:spcPts val="1889"/>
              </a:lnSpc>
            </a:pPr>
            <a:r>
              <a:rPr lang="en-US" sz="2400" b="1" u="sng" dirty="0">
                <a:solidFill>
                  <a:srgbClr val="234E7D"/>
                </a:solidFill>
                <a:latin typeface="Aptos Bold"/>
                <a:ea typeface="Aptos Bold"/>
                <a:cs typeface="Aptos Bold"/>
                <a:sym typeface="Aptos Bold"/>
              </a:rPr>
              <a:t> </a:t>
            </a:r>
            <a:r>
              <a:rPr lang="en-US" sz="2400" b="1" dirty="0">
                <a:solidFill>
                  <a:srgbClr val="234E7D"/>
                </a:solidFill>
                <a:latin typeface="Aptos Bold"/>
                <a:ea typeface="Aptos Bold"/>
                <a:cs typeface="Aptos Bold"/>
                <a:sym typeface="Aptos Bold"/>
              </a:rPr>
              <a:t>Template</a:t>
            </a:r>
            <a:r>
              <a:rPr lang="en-US" sz="2400" b="1" u="sng" dirty="0">
                <a:solidFill>
                  <a:srgbClr val="234E7D"/>
                </a:solidFill>
                <a:latin typeface="Aptos Bold"/>
                <a:ea typeface="Aptos Bold"/>
                <a:cs typeface="Aptos Bold"/>
                <a:sym typeface="Aptos Bold"/>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853</Words>
  <Application>Microsoft Office PowerPoint</Application>
  <PresentationFormat>Custom</PresentationFormat>
  <Paragraphs>158</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Arial</vt:lpstr>
      <vt:lpstr>Calibri</vt:lpstr>
      <vt:lpstr>Arimo Bold</vt:lpstr>
      <vt:lpstr>Aptos Bold</vt:lpstr>
      <vt:lpstr>Times New Roman Bold</vt:lpstr>
      <vt:lpstr>Garamond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AI_Enabled_Learning_Platform_SIH2026 (1).pptx</dc:title>
  <dc:creator>Shubham</dc:creator>
  <cp:lastModifiedBy>Shubham Rajput</cp:lastModifiedBy>
  <cp:revision>2</cp:revision>
  <dcterms:created xsi:type="dcterms:W3CDTF">2006-08-16T00:00:00Z</dcterms:created>
  <dcterms:modified xsi:type="dcterms:W3CDTF">2026-09-27T04:19:41Z</dcterms:modified>
  <dc:identifier>DAHUernAifE</dc:identifier>
</cp:coreProperties>
</file>